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2"/>
    <p:sldId id="261" r:id="rId3"/>
    <p:sldId id="262" r:id="rId4"/>
    <p:sldId id="258" r:id="rId5"/>
    <p:sldId id="297" r:id="rId6"/>
    <p:sldId id="298" r:id="rId7"/>
    <p:sldId id="299" r:id="rId8"/>
    <p:sldId id="300" r:id="rId9"/>
    <p:sldId id="301" r:id="rId10"/>
    <p:sldId id="302" r:id="rId11"/>
    <p:sldId id="303" r:id="rId12"/>
    <p:sldId id="304" r:id="rId13"/>
    <p:sldId id="305" r:id="rId14"/>
    <p:sldId id="306" r:id="rId15"/>
    <p:sldId id="307" r:id="rId16"/>
    <p:sldId id="308" r:id="rId17"/>
  </p:sldIdLst>
  <p:sldSz cx="6858000" cy="9906000" type="A4"/>
  <p:notesSz cx="7772400" cy="10058400"/>
  <p:defaultTextStyle>
    <a:defPPr>
      <a:defRPr kern="0"/>
    </a:defPPr>
  </p:defaultTextStyle>
  <p:extLst>
    <p:ext uri="{EFAFB233-063F-42B5-8137-9DF3F51BA10A}">
      <p15:sldGuideLst xmlns:p15="http://schemas.microsoft.com/office/powerpoint/2012/main">
        <p15:guide id="1" orient="horz" pos="2836" userDrawn="1">
          <p15:clr>
            <a:srgbClr val="A4A3A4"/>
          </p15:clr>
        </p15:guide>
        <p15:guide id="2" pos="19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2477" y="62"/>
      </p:cViewPr>
      <p:guideLst>
        <p:guide orient="horz" pos="2836"/>
        <p:guide pos="190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070860"/>
            <a:ext cx="5829300" cy="380232"/>
          </a:xfrm>
          <a:prstGeom prst="rect">
            <a:avLst/>
          </a:prstGeom>
        </p:spPr>
        <p:txBody>
          <a:bodyPr wrap="square" lIns="0" tIns="0" rIns="0" bIns="0">
            <a:spAutoFit/>
          </a:bodyPr>
          <a:lstStyle>
            <a:lvl1pPr>
              <a:defRPr sz="2471" b="0" i="1" u="sng">
                <a:solidFill>
                  <a:srgbClr val="4471C4"/>
                </a:solidFill>
                <a:latin typeface="Calibri"/>
                <a:cs typeface="Calibri"/>
              </a:defRPr>
            </a:lvl1pPr>
          </a:lstStyle>
          <a:p>
            <a:endParaRPr/>
          </a:p>
        </p:txBody>
      </p:sp>
      <p:sp>
        <p:nvSpPr>
          <p:cNvPr id="3" name="Holder 3"/>
          <p:cNvSpPr>
            <a:spLocks noGrp="1"/>
          </p:cNvSpPr>
          <p:nvPr>
            <p:ph type="subTitle" idx="4"/>
          </p:nvPr>
        </p:nvSpPr>
        <p:spPr>
          <a:xfrm>
            <a:off x="1028700" y="5547360"/>
            <a:ext cx="4800600" cy="149400"/>
          </a:xfrm>
          <a:prstGeom prst="rect">
            <a:avLst/>
          </a:prstGeom>
        </p:spPr>
        <p:txBody>
          <a:bodyPr wrap="square" lIns="0" tIns="0" rIns="0" bIns="0">
            <a:spAutoFit/>
          </a:bodyPr>
          <a:lstStyle>
            <a:lvl1pPr>
              <a:defRPr sz="971"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098736" y="422507"/>
            <a:ext cx="4660526" cy="380232"/>
          </a:xfrm>
        </p:spPr>
        <p:txBody>
          <a:bodyPr lIns="0" tIns="0" rIns="0" bIns="0"/>
          <a:lstStyle>
            <a:lvl1pPr>
              <a:defRPr sz="2471" b="0" i="1" u="sng">
                <a:solidFill>
                  <a:srgbClr val="4471C4"/>
                </a:solidFill>
                <a:latin typeface="Calibri"/>
                <a:cs typeface="Calibri"/>
              </a:defRPr>
            </a:lvl1pPr>
          </a:lstStyle>
          <a:p>
            <a:endParaRPr/>
          </a:p>
        </p:txBody>
      </p:sp>
      <p:sp>
        <p:nvSpPr>
          <p:cNvPr id="3" name="Holder 3"/>
          <p:cNvSpPr>
            <a:spLocks noGrp="1"/>
          </p:cNvSpPr>
          <p:nvPr>
            <p:ph type="body" idx="1"/>
          </p:nvPr>
        </p:nvSpPr>
        <p:spPr>
          <a:xfrm>
            <a:off x="392488" y="4444817"/>
            <a:ext cx="4383741" cy="149400"/>
          </a:xfrm>
        </p:spPr>
        <p:txBody>
          <a:bodyPr lIns="0" tIns="0" rIns="0" bIns="0"/>
          <a:lstStyle>
            <a:lvl1pPr>
              <a:defRPr sz="971"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098736" y="422507"/>
            <a:ext cx="4660526" cy="380232"/>
          </a:xfrm>
        </p:spPr>
        <p:txBody>
          <a:bodyPr lIns="0" tIns="0" rIns="0" bIns="0"/>
          <a:lstStyle>
            <a:lvl1pPr>
              <a:defRPr sz="2471" b="0" i="1" u="sng">
                <a:solidFill>
                  <a:srgbClr val="4471C4"/>
                </a:solidFill>
                <a:latin typeface="Calibri"/>
                <a:cs typeface="Calibri"/>
              </a:defRPr>
            </a:lvl1pPr>
          </a:lstStyle>
          <a:p>
            <a:endParaRPr/>
          </a:p>
        </p:txBody>
      </p:sp>
      <p:sp>
        <p:nvSpPr>
          <p:cNvPr id="3" name="Holder 3"/>
          <p:cNvSpPr>
            <a:spLocks noGrp="1"/>
          </p:cNvSpPr>
          <p:nvPr>
            <p:ph sz="half" idx="2"/>
          </p:nvPr>
        </p:nvSpPr>
        <p:spPr>
          <a:xfrm>
            <a:off x="342900" y="2278381"/>
            <a:ext cx="2983230" cy="16927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278381"/>
            <a:ext cx="2983230" cy="16927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098736" y="422507"/>
            <a:ext cx="4660526" cy="380232"/>
          </a:xfrm>
        </p:spPr>
        <p:txBody>
          <a:bodyPr lIns="0" tIns="0" rIns="0" bIns="0"/>
          <a:lstStyle>
            <a:lvl1pPr>
              <a:defRPr sz="2471" b="0" i="1" u="sng">
                <a:solidFill>
                  <a:srgbClr val="4471C4"/>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98736" y="422507"/>
            <a:ext cx="4660526" cy="430887"/>
          </a:xfrm>
          <a:prstGeom prst="rect">
            <a:avLst/>
          </a:prstGeom>
        </p:spPr>
        <p:txBody>
          <a:bodyPr wrap="square" lIns="0" tIns="0" rIns="0" bIns="0">
            <a:spAutoFit/>
          </a:bodyPr>
          <a:lstStyle>
            <a:lvl1pPr>
              <a:defRPr sz="2800" b="0" i="1" u="sng">
                <a:solidFill>
                  <a:srgbClr val="4471C4"/>
                </a:solidFill>
                <a:latin typeface="Calibri"/>
                <a:cs typeface="Calibri"/>
              </a:defRPr>
            </a:lvl1pPr>
          </a:lstStyle>
          <a:p>
            <a:endParaRPr/>
          </a:p>
        </p:txBody>
      </p:sp>
      <p:sp>
        <p:nvSpPr>
          <p:cNvPr id="3" name="Holder 3"/>
          <p:cNvSpPr>
            <a:spLocks noGrp="1"/>
          </p:cNvSpPr>
          <p:nvPr>
            <p:ph type="body" idx="1"/>
          </p:nvPr>
        </p:nvSpPr>
        <p:spPr>
          <a:xfrm>
            <a:off x="392488" y="4444818"/>
            <a:ext cx="4383741" cy="169277"/>
          </a:xfrm>
          <a:prstGeom prst="rect">
            <a:avLst/>
          </a:prstGeom>
        </p:spPr>
        <p:txBody>
          <a:bodyPr wrap="square" lIns="0" tIns="0" rIns="0" bIns="0">
            <a:spAutoFit/>
          </a:bodyPr>
          <a:lstStyle>
            <a:lvl1pPr>
              <a:defRPr sz="11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2331720" y="9212582"/>
            <a:ext cx="219456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9212582"/>
            <a:ext cx="157734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a:xfrm>
            <a:off x="4937760" y="9212582"/>
            <a:ext cx="157734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03431">
        <a:defRPr>
          <a:latin typeface="+mn-lt"/>
          <a:ea typeface="+mn-ea"/>
          <a:cs typeface="+mn-cs"/>
        </a:defRPr>
      </a:lvl2pPr>
      <a:lvl3pPr marL="806862">
        <a:defRPr>
          <a:latin typeface="+mn-lt"/>
          <a:ea typeface="+mn-ea"/>
          <a:cs typeface="+mn-cs"/>
        </a:defRPr>
      </a:lvl3pPr>
      <a:lvl4pPr marL="1210293">
        <a:defRPr>
          <a:latin typeface="+mn-lt"/>
          <a:ea typeface="+mn-ea"/>
          <a:cs typeface="+mn-cs"/>
        </a:defRPr>
      </a:lvl4pPr>
      <a:lvl5pPr marL="1613724">
        <a:defRPr>
          <a:latin typeface="+mn-lt"/>
          <a:ea typeface="+mn-ea"/>
          <a:cs typeface="+mn-cs"/>
        </a:defRPr>
      </a:lvl5pPr>
      <a:lvl6pPr marL="2017154">
        <a:defRPr>
          <a:latin typeface="+mn-lt"/>
          <a:ea typeface="+mn-ea"/>
          <a:cs typeface="+mn-cs"/>
        </a:defRPr>
      </a:lvl6pPr>
      <a:lvl7pPr marL="2420586">
        <a:defRPr>
          <a:latin typeface="+mn-lt"/>
          <a:ea typeface="+mn-ea"/>
          <a:cs typeface="+mn-cs"/>
        </a:defRPr>
      </a:lvl7pPr>
      <a:lvl8pPr marL="2824017">
        <a:defRPr>
          <a:latin typeface="+mn-lt"/>
          <a:ea typeface="+mn-ea"/>
          <a:cs typeface="+mn-cs"/>
        </a:defRPr>
      </a:lvl8pPr>
      <a:lvl9pPr marL="3227448">
        <a:defRPr>
          <a:latin typeface="+mn-lt"/>
          <a:ea typeface="+mn-ea"/>
          <a:cs typeface="+mn-cs"/>
        </a:defRPr>
      </a:lvl9pPr>
    </p:bodyStyle>
    <p:otherStyle>
      <a:lvl1pPr marL="0">
        <a:defRPr>
          <a:latin typeface="+mn-lt"/>
          <a:ea typeface="+mn-ea"/>
          <a:cs typeface="+mn-cs"/>
        </a:defRPr>
      </a:lvl1pPr>
      <a:lvl2pPr marL="403431">
        <a:defRPr>
          <a:latin typeface="+mn-lt"/>
          <a:ea typeface="+mn-ea"/>
          <a:cs typeface="+mn-cs"/>
        </a:defRPr>
      </a:lvl2pPr>
      <a:lvl3pPr marL="806862">
        <a:defRPr>
          <a:latin typeface="+mn-lt"/>
          <a:ea typeface="+mn-ea"/>
          <a:cs typeface="+mn-cs"/>
        </a:defRPr>
      </a:lvl3pPr>
      <a:lvl4pPr marL="1210293">
        <a:defRPr>
          <a:latin typeface="+mn-lt"/>
          <a:ea typeface="+mn-ea"/>
          <a:cs typeface="+mn-cs"/>
        </a:defRPr>
      </a:lvl4pPr>
      <a:lvl5pPr marL="1613724">
        <a:defRPr>
          <a:latin typeface="+mn-lt"/>
          <a:ea typeface="+mn-ea"/>
          <a:cs typeface="+mn-cs"/>
        </a:defRPr>
      </a:lvl5pPr>
      <a:lvl6pPr marL="2017154">
        <a:defRPr>
          <a:latin typeface="+mn-lt"/>
          <a:ea typeface="+mn-ea"/>
          <a:cs typeface="+mn-cs"/>
        </a:defRPr>
      </a:lvl6pPr>
      <a:lvl7pPr marL="2420586">
        <a:defRPr>
          <a:latin typeface="+mn-lt"/>
          <a:ea typeface="+mn-ea"/>
          <a:cs typeface="+mn-cs"/>
        </a:defRPr>
      </a:lvl7pPr>
      <a:lvl8pPr marL="2824017">
        <a:defRPr>
          <a:latin typeface="+mn-lt"/>
          <a:ea typeface="+mn-ea"/>
          <a:cs typeface="+mn-cs"/>
        </a:defRPr>
      </a:lvl8pPr>
      <a:lvl9pPr marL="322744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ev.mysql.com/doc" TargetMode="External"/><Relationship Id="rId2" Type="http://schemas.openxmlformats.org/officeDocument/2006/relationships/hyperlink" Target="https://docs.python.org/" TargetMode="External"/><Relationship Id="rId1" Type="http://schemas.openxmlformats.org/officeDocument/2006/relationships/slideLayout" Target="../slideLayouts/slideLayout2.xml"/><Relationship Id="rId5" Type="http://schemas.openxmlformats.org/officeDocument/2006/relationships/hyperlink" Target="https://www.w3schools.com/" TargetMode="External"/><Relationship Id="rId4" Type="http://schemas.openxmlformats.org/officeDocument/2006/relationships/hyperlink" Target="https://cryptography.io/"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715745" y="1283410"/>
            <a:ext cx="1353671" cy="309987"/>
          </a:xfrm>
          <a:prstGeom prst="rect">
            <a:avLst/>
          </a:prstGeom>
        </p:spPr>
        <p:txBody>
          <a:bodyPr vert="horz" wrap="square" lIns="0" tIns="11206" rIns="0" bIns="0" rtlCol="0">
            <a:spAutoFit/>
          </a:bodyPr>
          <a:lstStyle/>
          <a:p>
            <a:pPr marL="11206">
              <a:spcBef>
                <a:spcPts val="88"/>
              </a:spcBef>
            </a:pPr>
            <a:r>
              <a:rPr sz="1941" u="sng" spc="-9" dirty="0">
                <a:solidFill>
                  <a:srgbClr val="C00000"/>
                </a:solidFill>
                <a:uFill>
                  <a:solidFill>
                    <a:srgbClr val="C00000"/>
                  </a:solidFill>
                </a:uFill>
                <a:latin typeface="Georgia"/>
                <a:cs typeface="Georgia"/>
              </a:rPr>
              <a:t>CONTENTS</a:t>
            </a:r>
            <a:endParaRPr sz="1941">
              <a:latin typeface="Georgia"/>
              <a:cs typeface="Georgia"/>
            </a:endParaRPr>
          </a:p>
        </p:txBody>
      </p:sp>
      <p:sp>
        <p:nvSpPr>
          <p:cNvPr id="4" name="object 4"/>
          <p:cNvSpPr/>
          <p:nvPr/>
        </p:nvSpPr>
        <p:spPr>
          <a:xfrm>
            <a:off x="268943" y="784412"/>
            <a:ext cx="6322919" cy="8339978"/>
          </a:xfrm>
          <a:custGeom>
            <a:avLst/>
            <a:gdLst/>
            <a:ahLst/>
            <a:cxnLst/>
            <a:rect l="l" t="t" r="r" b="b"/>
            <a:pathLst>
              <a:path w="7165975" h="9451975">
                <a:moveTo>
                  <a:pt x="7165975" y="0"/>
                </a:moveTo>
                <a:lnTo>
                  <a:pt x="7159625" y="0"/>
                </a:lnTo>
                <a:lnTo>
                  <a:pt x="7159625" y="6350"/>
                </a:lnTo>
                <a:lnTo>
                  <a:pt x="7159625" y="9445625"/>
                </a:lnTo>
                <a:lnTo>
                  <a:pt x="6350" y="9445625"/>
                </a:lnTo>
                <a:lnTo>
                  <a:pt x="6350" y="6350"/>
                </a:lnTo>
                <a:lnTo>
                  <a:pt x="7159625" y="6350"/>
                </a:lnTo>
                <a:lnTo>
                  <a:pt x="7159625" y="0"/>
                </a:lnTo>
                <a:lnTo>
                  <a:pt x="6350" y="0"/>
                </a:lnTo>
                <a:lnTo>
                  <a:pt x="0" y="0"/>
                </a:lnTo>
                <a:lnTo>
                  <a:pt x="0" y="6350"/>
                </a:lnTo>
                <a:lnTo>
                  <a:pt x="0" y="9445625"/>
                </a:lnTo>
                <a:lnTo>
                  <a:pt x="0" y="9451975"/>
                </a:lnTo>
                <a:lnTo>
                  <a:pt x="6350" y="9451975"/>
                </a:lnTo>
                <a:lnTo>
                  <a:pt x="7159625" y="9451975"/>
                </a:lnTo>
                <a:lnTo>
                  <a:pt x="7165975" y="9451975"/>
                </a:lnTo>
                <a:lnTo>
                  <a:pt x="7165975" y="9445625"/>
                </a:lnTo>
                <a:lnTo>
                  <a:pt x="7165975" y="6350"/>
                </a:lnTo>
                <a:lnTo>
                  <a:pt x="7165975" y="0"/>
                </a:lnTo>
                <a:close/>
              </a:path>
            </a:pathLst>
          </a:custGeom>
          <a:solidFill>
            <a:srgbClr val="000000"/>
          </a:solidFill>
        </p:spPr>
        <p:txBody>
          <a:bodyPr wrap="square" lIns="0" tIns="0" rIns="0" bIns="0" rtlCol="0"/>
          <a:lstStyle/>
          <a:p>
            <a:endParaRPr/>
          </a:p>
        </p:txBody>
      </p:sp>
      <p:graphicFrame>
        <p:nvGraphicFramePr>
          <p:cNvPr id="8" name="Table 7">
            <a:extLst>
              <a:ext uri="{FF2B5EF4-FFF2-40B4-BE49-F238E27FC236}">
                <a16:creationId xmlns:a16="http://schemas.microsoft.com/office/drawing/2014/main" id="{45C49B6A-F2D3-FCD0-A25F-D5F3EC278D0D}"/>
              </a:ext>
            </a:extLst>
          </p:cNvPr>
          <p:cNvGraphicFramePr>
            <a:graphicFrameLocks noGrp="1"/>
          </p:cNvGraphicFramePr>
          <p:nvPr>
            <p:extLst>
              <p:ext uri="{D42A27DB-BD31-4B8C-83A1-F6EECF244321}">
                <p14:modId xmlns:p14="http://schemas.microsoft.com/office/powerpoint/2010/main" val="3121567880"/>
              </p:ext>
            </p:extLst>
          </p:nvPr>
        </p:nvGraphicFramePr>
        <p:xfrm>
          <a:off x="386334" y="1656312"/>
          <a:ext cx="6085333" cy="7196335"/>
        </p:xfrm>
        <a:graphic>
          <a:graphicData uri="http://schemas.openxmlformats.org/drawingml/2006/table">
            <a:tbl>
              <a:tblPr firstRow="1" bandRow="1">
                <a:tableStyleId>{3C2FFA5D-87B4-456A-9821-1D502468CF0F}</a:tableStyleId>
              </a:tblPr>
              <a:tblGrid>
                <a:gridCol w="5799313">
                  <a:extLst>
                    <a:ext uri="{9D8B030D-6E8A-4147-A177-3AD203B41FA5}">
                      <a16:colId xmlns:a16="http://schemas.microsoft.com/office/drawing/2014/main" val="3493853786"/>
                    </a:ext>
                  </a:extLst>
                </a:gridCol>
                <a:gridCol w="286020">
                  <a:extLst>
                    <a:ext uri="{9D8B030D-6E8A-4147-A177-3AD203B41FA5}">
                      <a16:colId xmlns:a16="http://schemas.microsoft.com/office/drawing/2014/main" val="414913085"/>
                    </a:ext>
                  </a:extLst>
                </a:gridCol>
              </a:tblGrid>
              <a:tr h="456595">
                <a:tc>
                  <a:txBody>
                    <a:bodyPr/>
                    <a:lstStyle/>
                    <a:p>
                      <a:r>
                        <a:rPr lang="en-US" sz="1700" dirty="0"/>
                        <a:t>CERTIFICATE</a:t>
                      </a:r>
                      <a:endParaRPr lang="en-IN" sz="1700" dirty="0"/>
                    </a:p>
                  </a:txBody>
                  <a:tcPr marL="107388" marR="107388" marT="40341" marB="40341"/>
                </a:tc>
                <a:tc>
                  <a:txBody>
                    <a:bodyPr/>
                    <a:lstStyle/>
                    <a:p>
                      <a:endParaRPr lang="en-IN" sz="1700" dirty="0"/>
                    </a:p>
                  </a:txBody>
                  <a:tcPr marL="107388" marR="107388" marT="40341" marB="40341"/>
                </a:tc>
                <a:extLst>
                  <a:ext uri="{0D108BD9-81ED-4DB2-BD59-A6C34878D82A}">
                    <a16:rowId xmlns:a16="http://schemas.microsoft.com/office/drawing/2014/main" val="4142991027"/>
                  </a:ext>
                </a:extLst>
              </a:tr>
              <a:tr h="456595">
                <a:tc>
                  <a:txBody>
                    <a:bodyPr/>
                    <a:lstStyle/>
                    <a:p>
                      <a:r>
                        <a:rPr lang="en-US" sz="1700" dirty="0"/>
                        <a:t>ACKNOWLEDGE</a:t>
                      </a:r>
                      <a:endParaRPr lang="en-IN" sz="1700" dirty="0"/>
                    </a:p>
                  </a:txBody>
                  <a:tcPr marL="107388" marR="107388" marT="40341" marB="40341"/>
                </a:tc>
                <a:tc>
                  <a:txBody>
                    <a:bodyPr/>
                    <a:lstStyle/>
                    <a:p>
                      <a:endParaRPr lang="en-IN" sz="1700"/>
                    </a:p>
                  </a:txBody>
                  <a:tcPr marL="107388" marR="107388" marT="40341" marB="40341"/>
                </a:tc>
                <a:extLst>
                  <a:ext uri="{0D108BD9-81ED-4DB2-BD59-A6C34878D82A}">
                    <a16:rowId xmlns:a16="http://schemas.microsoft.com/office/drawing/2014/main" val="3823482655"/>
                  </a:ext>
                </a:extLst>
              </a:tr>
              <a:tr h="804005">
                <a:tc>
                  <a:txBody>
                    <a:bodyPr/>
                    <a:lstStyle/>
                    <a:p>
                      <a:r>
                        <a:rPr lang="en-US" sz="1700" dirty="0"/>
                        <a:t>HARDWARE AND SOFTWARE USED</a:t>
                      </a:r>
                      <a:endParaRPr lang="en-IN" sz="1700" dirty="0"/>
                    </a:p>
                  </a:txBody>
                  <a:tcPr marL="107388" marR="107388" marT="40341" marB="40341"/>
                </a:tc>
                <a:tc>
                  <a:txBody>
                    <a:bodyPr/>
                    <a:lstStyle/>
                    <a:p>
                      <a:endParaRPr lang="en-IN" sz="1700"/>
                    </a:p>
                  </a:txBody>
                  <a:tcPr marL="107388" marR="107388" marT="40341" marB="40341"/>
                </a:tc>
                <a:extLst>
                  <a:ext uri="{0D108BD9-81ED-4DB2-BD59-A6C34878D82A}">
                    <a16:rowId xmlns:a16="http://schemas.microsoft.com/office/drawing/2014/main" val="2481459101"/>
                  </a:ext>
                </a:extLst>
              </a:tr>
              <a:tr h="456595">
                <a:tc>
                  <a:txBody>
                    <a:bodyPr/>
                    <a:lstStyle/>
                    <a:p>
                      <a:r>
                        <a:rPr lang="en-US" sz="1700" dirty="0"/>
                        <a:t>ABOUT PROJECT</a:t>
                      </a:r>
                      <a:endParaRPr lang="en-IN" sz="1700" dirty="0"/>
                    </a:p>
                  </a:txBody>
                  <a:tcPr marL="107388" marR="107388" marT="40341" marB="40341"/>
                </a:tc>
                <a:tc>
                  <a:txBody>
                    <a:bodyPr/>
                    <a:lstStyle/>
                    <a:p>
                      <a:endParaRPr lang="en-IN" sz="1700" dirty="0"/>
                    </a:p>
                  </a:txBody>
                  <a:tcPr marL="107388" marR="107388" marT="40341" marB="40341"/>
                </a:tc>
                <a:extLst>
                  <a:ext uri="{0D108BD9-81ED-4DB2-BD59-A6C34878D82A}">
                    <a16:rowId xmlns:a16="http://schemas.microsoft.com/office/drawing/2014/main" val="2455948921"/>
                  </a:ext>
                </a:extLst>
              </a:tr>
              <a:tr h="456595">
                <a:tc>
                  <a:txBody>
                    <a:bodyPr/>
                    <a:lstStyle/>
                    <a:p>
                      <a:r>
                        <a:rPr lang="en-US" sz="1700" dirty="0"/>
                        <a:t>INTRODUCTION</a:t>
                      </a:r>
                      <a:endParaRPr lang="en-IN" sz="1700" dirty="0"/>
                    </a:p>
                  </a:txBody>
                  <a:tcPr marL="107388" marR="107388" marT="40341" marB="40341"/>
                </a:tc>
                <a:tc>
                  <a:txBody>
                    <a:bodyPr/>
                    <a:lstStyle/>
                    <a:p>
                      <a:endParaRPr lang="en-IN" sz="1700"/>
                    </a:p>
                  </a:txBody>
                  <a:tcPr marL="107388" marR="107388" marT="40341" marB="40341"/>
                </a:tc>
                <a:extLst>
                  <a:ext uri="{0D108BD9-81ED-4DB2-BD59-A6C34878D82A}">
                    <a16:rowId xmlns:a16="http://schemas.microsoft.com/office/drawing/2014/main" val="1051952148"/>
                  </a:ext>
                </a:extLst>
              </a:tr>
              <a:tr h="456595">
                <a:tc>
                  <a:txBody>
                    <a:bodyPr/>
                    <a:lstStyle/>
                    <a:p>
                      <a:r>
                        <a:rPr lang="en-US" sz="1700" dirty="0"/>
                        <a:t>AIM</a:t>
                      </a:r>
                      <a:endParaRPr lang="en-IN" sz="1700" dirty="0"/>
                    </a:p>
                  </a:txBody>
                  <a:tcPr marL="107388" marR="107388" marT="40341" marB="40341"/>
                </a:tc>
                <a:tc>
                  <a:txBody>
                    <a:bodyPr/>
                    <a:lstStyle/>
                    <a:p>
                      <a:endParaRPr lang="en-IN" sz="1700"/>
                    </a:p>
                  </a:txBody>
                  <a:tcPr marL="107388" marR="107388" marT="40341" marB="40341"/>
                </a:tc>
                <a:extLst>
                  <a:ext uri="{0D108BD9-81ED-4DB2-BD59-A6C34878D82A}">
                    <a16:rowId xmlns:a16="http://schemas.microsoft.com/office/drawing/2014/main" val="240537207"/>
                  </a:ext>
                </a:extLst>
              </a:tr>
              <a:tr h="456595">
                <a:tc>
                  <a:txBody>
                    <a:bodyPr/>
                    <a:lstStyle/>
                    <a:p>
                      <a:r>
                        <a:rPr lang="en-US" sz="1700" dirty="0"/>
                        <a:t>WORKING</a:t>
                      </a:r>
                      <a:endParaRPr lang="en-IN" sz="1700" dirty="0"/>
                    </a:p>
                  </a:txBody>
                  <a:tcPr marL="107388" marR="107388" marT="40341" marB="40341"/>
                </a:tc>
                <a:tc>
                  <a:txBody>
                    <a:bodyPr/>
                    <a:lstStyle/>
                    <a:p>
                      <a:endParaRPr lang="en-IN" sz="1700"/>
                    </a:p>
                  </a:txBody>
                  <a:tcPr marL="107388" marR="107388" marT="40341" marB="40341"/>
                </a:tc>
                <a:extLst>
                  <a:ext uri="{0D108BD9-81ED-4DB2-BD59-A6C34878D82A}">
                    <a16:rowId xmlns:a16="http://schemas.microsoft.com/office/drawing/2014/main" val="1490971919"/>
                  </a:ext>
                </a:extLst>
              </a:tr>
              <a:tr h="456595">
                <a:tc>
                  <a:txBody>
                    <a:bodyPr/>
                    <a:lstStyle/>
                    <a:p>
                      <a:r>
                        <a:rPr lang="en-US" sz="1700" dirty="0"/>
                        <a:t>OUTCOME</a:t>
                      </a:r>
                      <a:endParaRPr lang="en-IN" sz="1700" dirty="0"/>
                    </a:p>
                  </a:txBody>
                  <a:tcPr marL="107388" marR="107388" marT="40341" marB="40341"/>
                </a:tc>
                <a:tc>
                  <a:txBody>
                    <a:bodyPr/>
                    <a:lstStyle/>
                    <a:p>
                      <a:endParaRPr lang="en-IN" sz="1700"/>
                    </a:p>
                  </a:txBody>
                  <a:tcPr marL="107388" marR="107388" marT="40341" marB="40341"/>
                </a:tc>
                <a:extLst>
                  <a:ext uri="{0D108BD9-81ED-4DB2-BD59-A6C34878D82A}">
                    <a16:rowId xmlns:a16="http://schemas.microsoft.com/office/drawing/2014/main" val="3174432971"/>
                  </a:ext>
                </a:extLst>
              </a:tr>
              <a:tr h="456595">
                <a:tc>
                  <a:txBody>
                    <a:bodyPr/>
                    <a:lstStyle/>
                    <a:p>
                      <a:r>
                        <a:rPr lang="en-US" sz="1700" dirty="0"/>
                        <a:t>ADVANTAGE</a:t>
                      </a:r>
                      <a:endParaRPr lang="en-IN" sz="1700" dirty="0"/>
                    </a:p>
                  </a:txBody>
                  <a:tcPr marL="107388" marR="107388" marT="40341" marB="40341"/>
                </a:tc>
                <a:tc>
                  <a:txBody>
                    <a:bodyPr/>
                    <a:lstStyle/>
                    <a:p>
                      <a:endParaRPr lang="en-IN" sz="1700" dirty="0"/>
                    </a:p>
                  </a:txBody>
                  <a:tcPr marL="107388" marR="107388" marT="40341" marB="40341"/>
                </a:tc>
                <a:extLst>
                  <a:ext uri="{0D108BD9-81ED-4DB2-BD59-A6C34878D82A}">
                    <a16:rowId xmlns:a16="http://schemas.microsoft.com/office/drawing/2014/main" val="2292964814"/>
                  </a:ext>
                </a:extLst>
              </a:tr>
              <a:tr h="456595">
                <a:tc>
                  <a:txBody>
                    <a:bodyPr/>
                    <a:lstStyle/>
                    <a:p>
                      <a:endParaRPr lang="en-IN" sz="1700" dirty="0"/>
                    </a:p>
                  </a:txBody>
                  <a:tcPr marL="107388" marR="107388" marT="40341" marB="40341"/>
                </a:tc>
                <a:tc>
                  <a:txBody>
                    <a:bodyPr/>
                    <a:lstStyle/>
                    <a:p>
                      <a:endParaRPr lang="en-IN" sz="1700" dirty="0"/>
                    </a:p>
                  </a:txBody>
                  <a:tcPr marL="107388" marR="107388" marT="40341" marB="40341"/>
                </a:tc>
                <a:extLst>
                  <a:ext uri="{0D108BD9-81ED-4DB2-BD59-A6C34878D82A}">
                    <a16:rowId xmlns:a16="http://schemas.microsoft.com/office/drawing/2014/main" val="1876725834"/>
                  </a:ext>
                </a:extLst>
              </a:tr>
              <a:tr h="456595">
                <a:tc>
                  <a:txBody>
                    <a:bodyPr/>
                    <a:lstStyle/>
                    <a:p>
                      <a:r>
                        <a:rPr lang="en-US" sz="1700" dirty="0"/>
                        <a:t>SOURCE CODE</a:t>
                      </a:r>
                      <a:endParaRPr lang="en-IN" sz="1700" dirty="0"/>
                    </a:p>
                  </a:txBody>
                  <a:tcPr marL="107388" marR="107388" marT="40341" marB="40341"/>
                </a:tc>
                <a:tc>
                  <a:txBody>
                    <a:bodyPr/>
                    <a:lstStyle/>
                    <a:p>
                      <a:endParaRPr lang="en-IN" sz="1700"/>
                    </a:p>
                  </a:txBody>
                  <a:tcPr marL="107388" marR="107388" marT="40341" marB="40341"/>
                </a:tc>
                <a:extLst>
                  <a:ext uri="{0D108BD9-81ED-4DB2-BD59-A6C34878D82A}">
                    <a16:rowId xmlns:a16="http://schemas.microsoft.com/office/drawing/2014/main" val="33292907"/>
                  </a:ext>
                </a:extLst>
              </a:tr>
              <a:tr h="456595">
                <a:tc>
                  <a:txBody>
                    <a:bodyPr/>
                    <a:lstStyle/>
                    <a:p>
                      <a:r>
                        <a:rPr lang="en-US" sz="1700" dirty="0"/>
                        <a:t>SQL TABLE</a:t>
                      </a:r>
                      <a:endParaRPr lang="en-IN" sz="1700" dirty="0"/>
                    </a:p>
                  </a:txBody>
                  <a:tcPr marL="107388" marR="107388" marT="40341" marB="40341"/>
                </a:tc>
                <a:tc>
                  <a:txBody>
                    <a:bodyPr/>
                    <a:lstStyle/>
                    <a:p>
                      <a:endParaRPr lang="en-IN" sz="1700"/>
                    </a:p>
                  </a:txBody>
                  <a:tcPr marL="107388" marR="107388" marT="40341" marB="40341"/>
                </a:tc>
                <a:extLst>
                  <a:ext uri="{0D108BD9-81ED-4DB2-BD59-A6C34878D82A}">
                    <a16:rowId xmlns:a16="http://schemas.microsoft.com/office/drawing/2014/main" val="4102229898"/>
                  </a:ext>
                </a:extLst>
              </a:tr>
              <a:tr h="456595">
                <a:tc>
                  <a:txBody>
                    <a:bodyPr/>
                    <a:lstStyle/>
                    <a:p>
                      <a:r>
                        <a:rPr lang="en-US" sz="1700" dirty="0"/>
                        <a:t>OUTPUT </a:t>
                      </a:r>
                      <a:endParaRPr lang="en-IN" sz="1700" dirty="0"/>
                    </a:p>
                  </a:txBody>
                  <a:tcPr marL="107388" marR="107388" marT="40341" marB="40341"/>
                </a:tc>
                <a:tc>
                  <a:txBody>
                    <a:bodyPr/>
                    <a:lstStyle/>
                    <a:p>
                      <a:endParaRPr lang="en-IN" sz="1700"/>
                    </a:p>
                  </a:txBody>
                  <a:tcPr marL="107388" marR="107388" marT="40341" marB="40341"/>
                </a:tc>
                <a:extLst>
                  <a:ext uri="{0D108BD9-81ED-4DB2-BD59-A6C34878D82A}">
                    <a16:rowId xmlns:a16="http://schemas.microsoft.com/office/drawing/2014/main" val="365568208"/>
                  </a:ext>
                </a:extLst>
              </a:tr>
              <a:tr h="456595">
                <a:tc>
                  <a:txBody>
                    <a:bodyPr/>
                    <a:lstStyle/>
                    <a:p>
                      <a:r>
                        <a:rPr lang="en-US" sz="1700" dirty="0"/>
                        <a:t>REFERENCE</a:t>
                      </a:r>
                      <a:endParaRPr lang="en-IN" sz="1700" dirty="0"/>
                    </a:p>
                  </a:txBody>
                  <a:tcPr marL="107388" marR="107388" marT="40341" marB="40341"/>
                </a:tc>
                <a:tc>
                  <a:txBody>
                    <a:bodyPr/>
                    <a:lstStyle/>
                    <a:p>
                      <a:endParaRPr lang="en-IN" sz="1700" dirty="0"/>
                    </a:p>
                  </a:txBody>
                  <a:tcPr marL="107388" marR="107388" marT="40341" marB="40341"/>
                </a:tc>
                <a:extLst>
                  <a:ext uri="{0D108BD9-81ED-4DB2-BD59-A6C34878D82A}">
                    <a16:rowId xmlns:a16="http://schemas.microsoft.com/office/drawing/2014/main" val="1785446621"/>
                  </a:ext>
                </a:extLst>
              </a:tr>
              <a:tr h="456595">
                <a:tc>
                  <a:txBody>
                    <a:bodyPr/>
                    <a:lstStyle/>
                    <a:p>
                      <a:endParaRPr lang="en-IN" sz="1700"/>
                    </a:p>
                  </a:txBody>
                  <a:tcPr marL="107388" marR="107388" marT="40341" marB="40341"/>
                </a:tc>
                <a:tc>
                  <a:txBody>
                    <a:bodyPr/>
                    <a:lstStyle/>
                    <a:p>
                      <a:endParaRPr lang="en-IN" sz="1700" dirty="0"/>
                    </a:p>
                  </a:txBody>
                  <a:tcPr marL="107388" marR="107388" marT="40341" marB="40341"/>
                </a:tc>
                <a:extLst>
                  <a:ext uri="{0D108BD9-81ED-4DB2-BD59-A6C34878D82A}">
                    <a16:rowId xmlns:a16="http://schemas.microsoft.com/office/drawing/2014/main" val="124957761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70927" y="1053354"/>
            <a:ext cx="5832662" cy="7855642"/>
          </a:xfrm>
          <a:prstGeom prst="rect">
            <a:avLst/>
          </a:prstGeom>
        </p:spPr>
        <p:txBody>
          <a:bodyPr vert="horz" wrap="square" lIns="0" tIns="11206" rIns="0" bIns="0" rtlCol="0">
            <a:spAutoFit/>
          </a:bodyPr>
          <a:lstStyle/>
          <a:p>
            <a:pPr marL="11767" algn="ctr">
              <a:lnSpc>
                <a:spcPct val="150000"/>
              </a:lnSpc>
              <a:spcBef>
                <a:spcPts val="88"/>
              </a:spcBef>
            </a:pPr>
            <a:r>
              <a:rPr lang="en-IN" sz="2118" b="1" u="sng" dirty="0"/>
              <a:t>HARDWARE AND SOFTWARE REQUIREMENTS</a:t>
            </a:r>
          </a:p>
          <a:p>
            <a:pPr marL="11767" algn="ctr">
              <a:lnSpc>
                <a:spcPct val="150000"/>
              </a:lnSpc>
              <a:spcBef>
                <a:spcPts val="88"/>
              </a:spcBef>
            </a:pPr>
            <a:endParaRPr sz="1941" b="1" u="sng" dirty="0">
              <a:latin typeface="Georgia"/>
              <a:cs typeface="Georgia"/>
            </a:endParaRPr>
          </a:p>
          <a:p>
            <a:pPr>
              <a:spcBef>
                <a:spcPts val="1663"/>
              </a:spcBef>
            </a:pPr>
            <a:endParaRPr sz="1941" dirty="0">
              <a:latin typeface="Georgia"/>
              <a:cs typeface="Georgia"/>
            </a:endParaRPr>
          </a:p>
          <a:p>
            <a:pPr marL="11206"/>
            <a:r>
              <a:rPr sz="1765" spc="49" dirty="0">
                <a:solidFill>
                  <a:srgbClr val="2E5395"/>
                </a:solidFill>
                <a:latin typeface="Georgia"/>
                <a:cs typeface="Georgia"/>
              </a:rPr>
              <a:t>Hardware:</a:t>
            </a:r>
            <a:endParaRPr sz="1765" dirty="0">
              <a:latin typeface="Georgia"/>
              <a:cs typeface="Georgia"/>
            </a:endParaRPr>
          </a:p>
          <a:p>
            <a:pPr marL="14008" marR="15129" indent="322184" algn="just">
              <a:lnSpc>
                <a:spcPts val="2718"/>
              </a:lnSpc>
              <a:spcBef>
                <a:spcPts val="190"/>
              </a:spcBef>
            </a:pPr>
            <a:r>
              <a:rPr lang="en-US" dirty="0"/>
              <a:t>This project can run on any basic computer system with a minimum of </a:t>
            </a:r>
            <a:r>
              <a:rPr lang="en-US" b="1" dirty="0"/>
              <a:t>4GB RAM</a:t>
            </a:r>
            <a:r>
              <a:rPr lang="en-US" dirty="0"/>
              <a:t>, a </a:t>
            </a:r>
            <a:r>
              <a:rPr lang="en-US" b="1" dirty="0"/>
              <a:t>dual-core processor</a:t>
            </a:r>
            <a:r>
              <a:rPr lang="en-US" dirty="0"/>
              <a:t>, and around </a:t>
            </a:r>
            <a:r>
              <a:rPr lang="en-US" b="1" dirty="0"/>
              <a:t>500MB of free storage space</a:t>
            </a:r>
            <a:r>
              <a:rPr lang="en-US" dirty="0"/>
              <a:t>. A standard keyboard and mouse are sufficient for operating the program. The project works on commonly used operating systems like Windows, macOS, or Linux.</a:t>
            </a:r>
            <a:endParaRPr sz="1588" dirty="0">
              <a:latin typeface="Georgia"/>
              <a:cs typeface="Georgia"/>
            </a:endParaRPr>
          </a:p>
          <a:p>
            <a:pPr>
              <a:spcBef>
                <a:spcPts val="296"/>
              </a:spcBef>
            </a:pPr>
            <a:endParaRPr sz="1588" dirty="0">
              <a:latin typeface="Georgia"/>
              <a:cs typeface="Georgia"/>
            </a:endParaRPr>
          </a:p>
          <a:p>
            <a:pPr marL="11206"/>
            <a:r>
              <a:rPr sz="1765" spc="66" dirty="0">
                <a:solidFill>
                  <a:srgbClr val="2E5395"/>
                </a:solidFill>
                <a:latin typeface="Georgia"/>
                <a:cs typeface="Georgia"/>
              </a:rPr>
              <a:t>Software</a:t>
            </a:r>
            <a:r>
              <a:rPr sz="1765" spc="110" dirty="0">
                <a:solidFill>
                  <a:srgbClr val="2E5395"/>
                </a:solidFill>
                <a:latin typeface="Georgia"/>
                <a:cs typeface="Georgia"/>
              </a:rPr>
              <a:t> </a:t>
            </a:r>
            <a:r>
              <a:rPr sz="1765" spc="53" dirty="0">
                <a:solidFill>
                  <a:srgbClr val="2E5395"/>
                </a:solidFill>
                <a:latin typeface="Georgia"/>
                <a:cs typeface="Georgia"/>
              </a:rPr>
              <a:t>used:</a:t>
            </a:r>
            <a:endParaRPr sz="1765" dirty="0">
              <a:latin typeface="Georgia"/>
              <a:cs typeface="Georgia"/>
            </a:endParaRPr>
          </a:p>
          <a:p>
            <a:pPr marL="417440">
              <a:lnSpc>
                <a:spcPct val="150000"/>
              </a:lnSpc>
              <a:spcBef>
                <a:spcPts val="794"/>
              </a:spcBef>
              <a:buSzPct val="66666"/>
              <a:tabLst>
                <a:tab pos="618033" algn="l"/>
              </a:tabLst>
            </a:pPr>
            <a:r>
              <a:rPr lang="en-US" dirty="0"/>
              <a:t>The project requires </a:t>
            </a:r>
            <a:r>
              <a:rPr lang="en-US" b="1" dirty="0"/>
              <a:t>Python 3.x</a:t>
            </a:r>
            <a:r>
              <a:rPr lang="en-US" dirty="0"/>
              <a:t>, </a:t>
            </a:r>
            <a:r>
              <a:rPr lang="en-US" b="1" dirty="0"/>
              <a:t>MySQL Server</a:t>
            </a:r>
            <a:r>
              <a:rPr lang="en-US" dirty="0"/>
              <a:t>, and the </a:t>
            </a:r>
            <a:r>
              <a:rPr lang="en-US" b="1" dirty="0"/>
              <a:t>MySQL Connector</a:t>
            </a:r>
            <a:r>
              <a:rPr lang="en-US" dirty="0"/>
              <a:t> library to enable database connectivity. The </a:t>
            </a:r>
            <a:r>
              <a:rPr lang="en-US" b="1" dirty="0"/>
              <a:t>cryptography</a:t>
            </a:r>
            <a:r>
              <a:rPr lang="en-US" dirty="0"/>
              <a:t> module is used for encrypting and decrypting passwords securely. A code editor such as </a:t>
            </a:r>
            <a:r>
              <a:rPr lang="en-US" b="1" dirty="0"/>
              <a:t>VS Code</a:t>
            </a:r>
            <a:r>
              <a:rPr lang="en-US" dirty="0"/>
              <a:t>, </a:t>
            </a:r>
            <a:r>
              <a:rPr lang="en-US" b="1" dirty="0"/>
              <a:t>PyCharm</a:t>
            </a:r>
            <a:r>
              <a:rPr lang="en-US" dirty="0"/>
              <a:t>, or Python’s </a:t>
            </a:r>
            <a:r>
              <a:rPr lang="en-US" b="1" dirty="0"/>
              <a:t>IDLE</a:t>
            </a:r>
            <a:r>
              <a:rPr lang="en-US" dirty="0"/>
              <a:t> can be used to write and execute the program.</a:t>
            </a:r>
            <a:endParaRPr lang="en-US" sz="1588" dirty="0">
              <a:latin typeface="Georgia"/>
              <a:cs typeface="Georgia"/>
            </a:endParaRPr>
          </a:p>
        </p:txBody>
      </p:sp>
      <p:sp>
        <p:nvSpPr>
          <p:cNvPr id="3" name="object 3"/>
          <p:cNvSpPr/>
          <p:nvPr/>
        </p:nvSpPr>
        <p:spPr>
          <a:xfrm>
            <a:off x="268943" y="784412"/>
            <a:ext cx="6322919" cy="8339978"/>
          </a:xfrm>
          <a:custGeom>
            <a:avLst/>
            <a:gdLst/>
            <a:ahLst/>
            <a:cxnLst/>
            <a:rect l="l" t="t" r="r" b="b"/>
            <a:pathLst>
              <a:path w="7165975" h="9451975">
                <a:moveTo>
                  <a:pt x="7165975" y="0"/>
                </a:moveTo>
                <a:lnTo>
                  <a:pt x="7159625" y="0"/>
                </a:lnTo>
                <a:lnTo>
                  <a:pt x="7159625" y="6350"/>
                </a:lnTo>
                <a:lnTo>
                  <a:pt x="7159625" y="9445625"/>
                </a:lnTo>
                <a:lnTo>
                  <a:pt x="6350" y="9445625"/>
                </a:lnTo>
                <a:lnTo>
                  <a:pt x="6350" y="6350"/>
                </a:lnTo>
                <a:lnTo>
                  <a:pt x="7159625" y="6350"/>
                </a:lnTo>
                <a:lnTo>
                  <a:pt x="7159625" y="0"/>
                </a:lnTo>
                <a:lnTo>
                  <a:pt x="6350" y="0"/>
                </a:lnTo>
                <a:lnTo>
                  <a:pt x="0" y="0"/>
                </a:lnTo>
                <a:lnTo>
                  <a:pt x="0" y="6350"/>
                </a:lnTo>
                <a:lnTo>
                  <a:pt x="0" y="9445625"/>
                </a:lnTo>
                <a:lnTo>
                  <a:pt x="0" y="9451975"/>
                </a:lnTo>
                <a:lnTo>
                  <a:pt x="6350" y="9451975"/>
                </a:lnTo>
                <a:lnTo>
                  <a:pt x="7159625" y="9451975"/>
                </a:lnTo>
                <a:lnTo>
                  <a:pt x="7165975" y="9451975"/>
                </a:lnTo>
                <a:lnTo>
                  <a:pt x="7165975" y="9445625"/>
                </a:lnTo>
                <a:lnTo>
                  <a:pt x="7165975" y="6350"/>
                </a:lnTo>
                <a:lnTo>
                  <a:pt x="7165975" y="0"/>
                </a:lnTo>
                <a:close/>
              </a:path>
            </a:pathLst>
          </a:custGeom>
          <a:solidFill>
            <a:srgbClr val="000000"/>
          </a:solid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7311" y="838200"/>
            <a:ext cx="5981699" cy="7423522"/>
          </a:xfrm>
          <a:prstGeom prst="rect">
            <a:avLst/>
          </a:prstGeom>
        </p:spPr>
        <p:txBody>
          <a:bodyPr vert="horz" wrap="square" lIns="0" tIns="110378" rIns="0" bIns="0" rtlCol="0">
            <a:spAutoFit/>
          </a:bodyPr>
          <a:lstStyle/>
          <a:p>
            <a:pPr marR="58834" algn="ctr">
              <a:spcBef>
                <a:spcPts val="869"/>
              </a:spcBef>
            </a:pPr>
            <a:r>
              <a:rPr sz="2471" b="1" u="sng" dirty="0">
                <a:solidFill>
                  <a:schemeClr val="tx2">
                    <a:lumMod val="60000"/>
                    <a:lumOff val="40000"/>
                  </a:schemeClr>
                </a:solidFill>
                <a:latin typeface="Georgia"/>
              </a:rPr>
              <a:t> INTRODUCTION</a:t>
            </a:r>
            <a:endParaRPr lang="en-US" sz="2471" b="1" u="sng" dirty="0">
              <a:solidFill>
                <a:schemeClr val="tx2">
                  <a:lumMod val="60000"/>
                  <a:lumOff val="40000"/>
                </a:schemeClr>
              </a:solidFill>
              <a:latin typeface="Georgia"/>
            </a:endParaRPr>
          </a:p>
          <a:p>
            <a:pPr marR="58834" algn="ctr">
              <a:spcBef>
                <a:spcPts val="869"/>
              </a:spcBef>
            </a:pPr>
            <a:endParaRPr lang="en-IN" sz="1941" dirty="0">
              <a:solidFill>
                <a:schemeClr val="tx2">
                  <a:lumMod val="60000"/>
                  <a:lumOff val="40000"/>
                </a:schemeClr>
              </a:solidFill>
              <a:latin typeface="Georgia"/>
              <a:cs typeface="Georgia"/>
            </a:endParaRPr>
          </a:p>
          <a:p>
            <a:pPr marL="1000172" marR="992329" algn="ctr">
              <a:lnSpc>
                <a:spcPct val="131600"/>
              </a:lnSpc>
              <a:spcBef>
                <a:spcPts val="49"/>
              </a:spcBef>
            </a:pPr>
            <a:r>
              <a:rPr lang="en-IN" sz="2118" b="1" u="sng" dirty="0" err="1"/>
              <a:t>CipherSafe</a:t>
            </a:r>
            <a:r>
              <a:rPr lang="en-IN" sz="2118" b="1" u="sng" dirty="0"/>
              <a:t>: Encrypted Password Manager</a:t>
            </a:r>
            <a:endParaRPr lang="en-IN" sz="1941" b="1" u="sng" dirty="0">
              <a:latin typeface="Georgia"/>
            </a:endParaRPr>
          </a:p>
          <a:p>
            <a:pPr marL="1000172" marR="992329" algn="ctr">
              <a:lnSpc>
                <a:spcPct val="131600"/>
              </a:lnSpc>
              <a:spcBef>
                <a:spcPts val="49"/>
              </a:spcBef>
            </a:pPr>
            <a:endParaRPr sz="1941" b="1" dirty="0">
              <a:latin typeface="Georgia"/>
            </a:endParaRPr>
          </a:p>
          <a:p>
            <a:r>
              <a:rPr lang="en-US" dirty="0"/>
              <a:t>In today’s world, almost every online service requires a password, making it difficult for users to remember multiple secure passwords. Many people reuse the same password everywhere, which is unsafe and can lead to hacking or unauthorized access. To solve this problem, a Password Manager helps store all passwords safely in one place.</a:t>
            </a:r>
          </a:p>
          <a:p>
            <a:endParaRPr lang="en-US" dirty="0"/>
          </a:p>
          <a:p>
            <a:r>
              <a:rPr lang="en-US" dirty="0"/>
              <a:t>This project is a simple and secure </a:t>
            </a:r>
            <a:r>
              <a:rPr lang="en-US" b="1" dirty="0"/>
              <a:t>Password Manager</a:t>
            </a:r>
            <a:r>
              <a:rPr lang="en-US" dirty="0"/>
              <a:t> created using Python and MySQL. It allows users to add, view, and manage their passwords easily. All passwords are stored in encrypted form using the Fernet encryption technique, ensuring complete safety even if someone accesses the database.</a:t>
            </a:r>
          </a:p>
          <a:p>
            <a:endParaRPr lang="en-US" dirty="0"/>
          </a:p>
          <a:p>
            <a:r>
              <a:rPr lang="en-US" dirty="0"/>
              <a:t>The project is easy to use, efficient, and demonstrates practical concepts like database connectivity, encryption, and backend programming. It aims to help users store strong and unique passwords without worrying about remembering all of them manually.</a:t>
            </a:r>
          </a:p>
        </p:txBody>
      </p:sp>
      <p:sp>
        <p:nvSpPr>
          <p:cNvPr id="3" name="object 3"/>
          <p:cNvSpPr/>
          <p:nvPr/>
        </p:nvSpPr>
        <p:spPr>
          <a:xfrm>
            <a:off x="268943" y="228601"/>
            <a:ext cx="6322919" cy="9448800"/>
          </a:xfrm>
          <a:custGeom>
            <a:avLst/>
            <a:gdLst/>
            <a:ahLst/>
            <a:cxnLst/>
            <a:rect l="l" t="t" r="r" b="b"/>
            <a:pathLst>
              <a:path w="7165975" h="9451975">
                <a:moveTo>
                  <a:pt x="7165975" y="0"/>
                </a:moveTo>
                <a:lnTo>
                  <a:pt x="7159625" y="0"/>
                </a:lnTo>
                <a:lnTo>
                  <a:pt x="7159625" y="6350"/>
                </a:lnTo>
                <a:lnTo>
                  <a:pt x="7159625" y="9445625"/>
                </a:lnTo>
                <a:lnTo>
                  <a:pt x="6350" y="9445625"/>
                </a:lnTo>
                <a:lnTo>
                  <a:pt x="6350" y="6350"/>
                </a:lnTo>
                <a:lnTo>
                  <a:pt x="7159625" y="6350"/>
                </a:lnTo>
                <a:lnTo>
                  <a:pt x="7159625" y="0"/>
                </a:lnTo>
                <a:lnTo>
                  <a:pt x="6350" y="0"/>
                </a:lnTo>
                <a:lnTo>
                  <a:pt x="0" y="0"/>
                </a:lnTo>
                <a:lnTo>
                  <a:pt x="0" y="6350"/>
                </a:lnTo>
                <a:lnTo>
                  <a:pt x="0" y="9445625"/>
                </a:lnTo>
                <a:lnTo>
                  <a:pt x="0" y="9451975"/>
                </a:lnTo>
                <a:lnTo>
                  <a:pt x="6350" y="9451975"/>
                </a:lnTo>
                <a:lnTo>
                  <a:pt x="7159625" y="9451975"/>
                </a:lnTo>
                <a:lnTo>
                  <a:pt x="7165975" y="9451975"/>
                </a:lnTo>
                <a:lnTo>
                  <a:pt x="7165975" y="9445625"/>
                </a:lnTo>
                <a:lnTo>
                  <a:pt x="7165975" y="6350"/>
                </a:lnTo>
                <a:lnTo>
                  <a:pt x="7165975" y="0"/>
                </a:lnTo>
                <a:close/>
              </a:path>
            </a:pathLst>
          </a:custGeom>
          <a:solidFill>
            <a:srgbClr val="000000"/>
          </a:solid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8736" y="762000"/>
            <a:ext cx="4660526" cy="717965"/>
          </a:xfrm>
          <a:prstGeom prst="rect">
            <a:avLst/>
          </a:prstGeom>
        </p:spPr>
        <p:txBody>
          <a:bodyPr vert="horz" wrap="square" lIns="0" tIns="361390" rIns="0" bIns="0" rtlCol="0">
            <a:spAutoFit/>
          </a:bodyPr>
          <a:lstStyle/>
          <a:p>
            <a:pPr marL="756433">
              <a:spcBef>
                <a:spcPts val="88"/>
              </a:spcBef>
            </a:pPr>
            <a:r>
              <a:rPr lang="en-IN" sz="2294" i="0" spc="-9" dirty="0">
                <a:solidFill>
                  <a:srgbClr val="001F5F"/>
                </a:solidFill>
                <a:uFill>
                  <a:solidFill>
                    <a:srgbClr val="001F5F"/>
                  </a:solidFill>
                </a:uFill>
                <a:latin typeface="Verdana"/>
                <a:cs typeface="Verdana"/>
              </a:rPr>
              <a:t>AIM OF THE PROJECT</a:t>
            </a:r>
            <a:endParaRPr sz="2294" dirty="0">
              <a:latin typeface="Verdana"/>
              <a:cs typeface="Verdana"/>
            </a:endParaRPr>
          </a:p>
        </p:txBody>
      </p:sp>
      <p:sp>
        <p:nvSpPr>
          <p:cNvPr id="3" name="object 3"/>
          <p:cNvSpPr txBox="1"/>
          <p:nvPr/>
        </p:nvSpPr>
        <p:spPr>
          <a:xfrm>
            <a:off x="445994" y="2193214"/>
            <a:ext cx="6075830" cy="4899781"/>
          </a:xfrm>
          <a:prstGeom prst="rect">
            <a:avLst/>
          </a:prstGeom>
        </p:spPr>
        <p:txBody>
          <a:bodyPr vert="horz" wrap="square" lIns="0" tIns="10646" rIns="0" bIns="0" rtlCol="0">
            <a:spAutoFit/>
          </a:bodyPr>
          <a:lstStyle/>
          <a:p>
            <a:r>
              <a:rPr lang="en-US" sz="1765" dirty="0">
                <a:latin typeface="Times New Roman" panose="02020603050405020304" pitchFamily="18" charset="0"/>
                <a:cs typeface="Times New Roman" panose="02020603050405020304" pitchFamily="18" charset="0"/>
              </a:rPr>
              <a:t>In today’s world, almost every online service requires a password, making it difficult for users to remember multiple secure passwords. Many people reuse the same password everywhere, which is unsafe and can lead to hacking or unauthorized access. To solve this problem, a Password Manager helps store all passwords safely in one place.</a:t>
            </a:r>
          </a:p>
          <a:p>
            <a:endParaRPr lang="en-US" sz="1765" dirty="0">
              <a:latin typeface="Times New Roman" panose="02020603050405020304" pitchFamily="18" charset="0"/>
              <a:cs typeface="Times New Roman" panose="02020603050405020304" pitchFamily="18" charset="0"/>
            </a:endParaRPr>
          </a:p>
          <a:p>
            <a:r>
              <a:rPr lang="en-US" sz="1765" dirty="0">
                <a:latin typeface="Times New Roman" panose="02020603050405020304" pitchFamily="18" charset="0"/>
                <a:cs typeface="Times New Roman" panose="02020603050405020304" pitchFamily="18" charset="0"/>
              </a:rPr>
              <a:t>This project is a simple and secure </a:t>
            </a:r>
            <a:r>
              <a:rPr lang="en-US" sz="1765" b="1" dirty="0">
                <a:latin typeface="Times New Roman" panose="02020603050405020304" pitchFamily="18" charset="0"/>
                <a:cs typeface="Times New Roman" panose="02020603050405020304" pitchFamily="18" charset="0"/>
              </a:rPr>
              <a:t>Password Manager</a:t>
            </a:r>
            <a:r>
              <a:rPr lang="en-US" sz="1765" dirty="0">
                <a:latin typeface="Times New Roman" panose="02020603050405020304" pitchFamily="18" charset="0"/>
                <a:cs typeface="Times New Roman" panose="02020603050405020304" pitchFamily="18" charset="0"/>
              </a:rPr>
              <a:t> created using Python and MySQL. It allows users to add, view, and manage their passwords easily. All passwords are stored in encrypted form using the Fernet encryption technique, ensuring complete safety even if someone accesses the database.</a:t>
            </a:r>
          </a:p>
          <a:p>
            <a:endParaRPr lang="en-US" sz="1765" dirty="0">
              <a:latin typeface="Times New Roman" panose="02020603050405020304" pitchFamily="18" charset="0"/>
              <a:cs typeface="Times New Roman" panose="02020603050405020304" pitchFamily="18" charset="0"/>
            </a:endParaRPr>
          </a:p>
          <a:p>
            <a:r>
              <a:rPr lang="en-US" sz="1765" dirty="0">
                <a:latin typeface="Times New Roman" panose="02020603050405020304" pitchFamily="18" charset="0"/>
                <a:cs typeface="Times New Roman" panose="02020603050405020304" pitchFamily="18" charset="0"/>
              </a:rPr>
              <a:t>The project is easy to use, efficient, and demonstrates practical concepts like database connectivity, encryption, and backend programming. It aims to help users store strong and unique passwords without worrying about remembering all of them manually.</a:t>
            </a:r>
          </a:p>
        </p:txBody>
      </p:sp>
      <p:sp>
        <p:nvSpPr>
          <p:cNvPr id="5" name="object 5"/>
          <p:cNvSpPr/>
          <p:nvPr/>
        </p:nvSpPr>
        <p:spPr>
          <a:xfrm>
            <a:off x="268943" y="367413"/>
            <a:ext cx="6322919" cy="9173976"/>
          </a:xfrm>
          <a:custGeom>
            <a:avLst/>
            <a:gdLst/>
            <a:ahLst/>
            <a:cxnLst/>
            <a:rect l="l" t="t" r="r" b="b"/>
            <a:pathLst>
              <a:path w="7165975" h="9451975">
                <a:moveTo>
                  <a:pt x="7165975" y="0"/>
                </a:moveTo>
                <a:lnTo>
                  <a:pt x="7159625" y="0"/>
                </a:lnTo>
                <a:lnTo>
                  <a:pt x="7159625" y="6350"/>
                </a:lnTo>
                <a:lnTo>
                  <a:pt x="7159625" y="9445625"/>
                </a:lnTo>
                <a:lnTo>
                  <a:pt x="6350" y="9445625"/>
                </a:lnTo>
                <a:lnTo>
                  <a:pt x="6350" y="6350"/>
                </a:lnTo>
                <a:lnTo>
                  <a:pt x="7159625" y="6350"/>
                </a:lnTo>
                <a:lnTo>
                  <a:pt x="7159625" y="0"/>
                </a:lnTo>
                <a:lnTo>
                  <a:pt x="6350" y="0"/>
                </a:lnTo>
                <a:lnTo>
                  <a:pt x="0" y="0"/>
                </a:lnTo>
                <a:lnTo>
                  <a:pt x="0" y="6350"/>
                </a:lnTo>
                <a:lnTo>
                  <a:pt x="0" y="9445625"/>
                </a:lnTo>
                <a:lnTo>
                  <a:pt x="0" y="9451975"/>
                </a:lnTo>
                <a:lnTo>
                  <a:pt x="6350" y="9451975"/>
                </a:lnTo>
                <a:lnTo>
                  <a:pt x="7159625" y="9451975"/>
                </a:lnTo>
                <a:lnTo>
                  <a:pt x="7165975" y="9451975"/>
                </a:lnTo>
                <a:lnTo>
                  <a:pt x="7165975" y="9445625"/>
                </a:lnTo>
                <a:lnTo>
                  <a:pt x="7165975" y="6350"/>
                </a:lnTo>
                <a:lnTo>
                  <a:pt x="7165975" y="0"/>
                </a:lnTo>
                <a:close/>
              </a:path>
            </a:pathLst>
          </a:custGeom>
          <a:solidFill>
            <a:srgbClr val="000000"/>
          </a:solid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B7FA86E-3F90-5229-0D30-CF74DE76FA9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53DFD1C-C384-15AB-85CF-6E1C884B75AA}"/>
              </a:ext>
            </a:extLst>
          </p:cNvPr>
          <p:cNvSpPr txBox="1">
            <a:spLocks noGrp="1"/>
          </p:cNvSpPr>
          <p:nvPr>
            <p:ph type="title"/>
          </p:nvPr>
        </p:nvSpPr>
        <p:spPr>
          <a:xfrm>
            <a:off x="717457" y="609600"/>
            <a:ext cx="5423088" cy="799525"/>
          </a:xfrm>
          <a:prstGeom prst="rect">
            <a:avLst/>
          </a:prstGeom>
        </p:spPr>
        <p:txBody>
          <a:bodyPr vert="horz" wrap="square" lIns="0" tIns="361390" rIns="0" bIns="0" rtlCol="0">
            <a:spAutoFit/>
          </a:bodyPr>
          <a:lstStyle/>
          <a:p>
            <a:pPr marL="756433">
              <a:spcBef>
                <a:spcPts val="88"/>
              </a:spcBef>
            </a:pPr>
            <a:r>
              <a:rPr lang="en-IN" sz="2824" b="1" i="0" dirty="0"/>
              <a:t>WORKING OF THE PROJECT</a:t>
            </a:r>
            <a:endParaRPr sz="2824" b="1" i="0" dirty="0">
              <a:latin typeface="Verdana"/>
              <a:cs typeface="Verdana"/>
            </a:endParaRPr>
          </a:p>
        </p:txBody>
      </p:sp>
      <p:sp>
        <p:nvSpPr>
          <p:cNvPr id="3" name="object 3">
            <a:extLst>
              <a:ext uri="{FF2B5EF4-FFF2-40B4-BE49-F238E27FC236}">
                <a16:creationId xmlns:a16="http://schemas.microsoft.com/office/drawing/2014/main" id="{BDD32C45-3144-04EE-3C53-7BACB6DD0ED3}"/>
              </a:ext>
            </a:extLst>
          </p:cNvPr>
          <p:cNvSpPr txBox="1"/>
          <p:nvPr/>
        </p:nvSpPr>
        <p:spPr>
          <a:xfrm>
            <a:off x="445994" y="2193214"/>
            <a:ext cx="6075830" cy="5443006"/>
          </a:xfrm>
          <a:prstGeom prst="rect">
            <a:avLst/>
          </a:prstGeom>
        </p:spPr>
        <p:txBody>
          <a:bodyPr vert="horz" wrap="square" lIns="0" tIns="10646" rIns="0" bIns="0" rtlCol="0">
            <a:spAutoFit/>
          </a:bodyPr>
          <a:lstStyle/>
          <a:p>
            <a:r>
              <a:rPr lang="en-US" sz="1765" dirty="0">
                <a:latin typeface="Times New Roman" panose="02020603050405020304" pitchFamily="18" charset="0"/>
                <a:cs typeface="Times New Roman" panose="02020603050405020304" pitchFamily="18" charset="0"/>
              </a:rPr>
              <a:t>The Password Manager works by allowing the user to store, retrieve, and manage passwords through a simple menu-based interface. When the program starts, it automatically connects to the MySQL database and creates the required table if it does not already exist. The user can then choose actions such as adding a new password, generating a strong password, viewing saved passwords, or listing all stored services.</a:t>
            </a:r>
          </a:p>
          <a:p>
            <a:endParaRPr lang="en-US" sz="1765" dirty="0">
              <a:latin typeface="Times New Roman" panose="02020603050405020304" pitchFamily="18" charset="0"/>
              <a:cs typeface="Times New Roman" panose="02020603050405020304" pitchFamily="18" charset="0"/>
            </a:endParaRPr>
          </a:p>
          <a:p>
            <a:r>
              <a:rPr lang="en-US" sz="1765" dirty="0">
                <a:latin typeface="Times New Roman" panose="02020603050405020304" pitchFamily="18" charset="0"/>
                <a:cs typeface="Times New Roman" panose="02020603050405020304" pitchFamily="18" charset="0"/>
              </a:rPr>
              <a:t>Whenever a password is added or generated, the program encrypts it using the Fernet encryption method before storing it in the database. This ensures that even if someone opens the database, the passwords remain unreadable. During retrieval, the program decrypts the stored password using the same key and displays it securely to the user.</a:t>
            </a:r>
          </a:p>
          <a:p>
            <a:endParaRPr lang="en-US" sz="1765" dirty="0">
              <a:latin typeface="Times New Roman" panose="02020603050405020304" pitchFamily="18" charset="0"/>
              <a:cs typeface="Times New Roman" panose="02020603050405020304" pitchFamily="18" charset="0"/>
            </a:endParaRPr>
          </a:p>
          <a:p>
            <a:r>
              <a:rPr lang="en-US" sz="1765" dirty="0">
                <a:latin typeface="Times New Roman" panose="02020603050405020304" pitchFamily="18" charset="0"/>
                <a:cs typeface="Times New Roman" panose="02020603050405020304" pitchFamily="18" charset="0"/>
              </a:rPr>
              <a:t>All operations—adding, viewing, generating, and listing—are handled through Python functions that interact with the MySQL database. This makes the project smooth, secure, and easy to use while demonstrating practical concepts like encryption, database connectivity, and CRUD operations.</a:t>
            </a:r>
          </a:p>
        </p:txBody>
      </p:sp>
      <p:sp>
        <p:nvSpPr>
          <p:cNvPr id="5" name="object 5">
            <a:extLst>
              <a:ext uri="{FF2B5EF4-FFF2-40B4-BE49-F238E27FC236}">
                <a16:creationId xmlns:a16="http://schemas.microsoft.com/office/drawing/2014/main" id="{A45523CF-A1C0-58D6-F9FC-FF6E4929E215}"/>
              </a:ext>
            </a:extLst>
          </p:cNvPr>
          <p:cNvSpPr/>
          <p:nvPr/>
        </p:nvSpPr>
        <p:spPr>
          <a:xfrm>
            <a:off x="268943" y="367413"/>
            <a:ext cx="6322919" cy="9173976"/>
          </a:xfrm>
          <a:custGeom>
            <a:avLst/>
            <a:gdLst/>
            <a:ahLst/>
            <a:cxnLst/>
            <a:rect l="l" t="t" r="r" b="b"/>
            <a:pathLst>
              <a:path w="7165975" h="9451975">
                <a:moveTo>
                  <a:pt x="7165975" y="0"/>
                </a:moveTo>
                <a:lnTo>
                  <a:pt x="7159625" y="0"/>
                </a:lnTo>
                <a:lnTo>
                  <a:pt x="7159625" y="6350"/>
                </a:lnTo>
                <a:lnTo>
                  <a:pt x="7159625" y="9445625"/>
                </a:lnTo>
                <a:lnTo>
                  <a:pt x="6350" y="9445625"/>
                </a:lnTo>
                <a:lnTo>
                  <a:pt x="6350" y="6350"/>
                </a:lnTo>
                <a:lnTo>
                  <a:pt x="7159625" y="6350"/>
                </a:lnTo>
                <a:lnTo>
                  <a:pt x="7159625" y="0"/>
                </a:lnTo>
                <a:lnTo>
                  <a:pt x="6350" y="0"/>
                </a:lnTo>
                <a:lnTo>
                  <a:pt x="0" y="0"/>
                </a:lnTo>
                <a:lnTo>
                  <a:pt x="0" y="6350"/>
                </a:lnTo>
                <a:lnTo>
                  <a:pt x="0" y="9445625"/>
                </a:lnTo>
                <a:lnTo>
                  <a:pt x="0" y="9451975"/>
                </a:lnTo>
                <a:lnTo>
                  <a:pt x="6350" y="9451975"/>
                </a:lnTo>
                <a:lnTo>
                  <a:pt x="7159625" y="9451975"/>
                </a:lnTo>
                <a:lnTo>
                  <a:pt x="7165975" y="9451975"/>
                </a:lnTo>
                <a:lnTo>
                  <a:pt x="7165975" y="9445625"/>
                </a:lnTo>
                <a:lnTo>
                  <a:pt x="7165975" y="6350"/>
                </a:lnTo>
                <a:lnTo>
                  <a:pt x="7165975"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4142459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4395EA0-BA9C-D445-CFB9-55104318A2C0}"/>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DACA34FC-0A99-3246-8925-21D52A1A459D}"/>
              </a:ext>
            </a:extLst>
          </p:cNvPr>
          <p:cNvSpPr/>
          <p:nvPr/>
        </p:nvSpPr>
        <p:spPr>
          <a:xfrm>
            <a:off x="2554942" y="5154707"/>
            <a:ext cx="1353966" cy="268941"/>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object 2">
            <a:extLst>
              <a:ext uri="{FF2B5EF4-FFF2-40B4-BE49-F238E27FC236}">
                <a16:creationId xmlns:a16="http://schemas.microsoft.com/office/drawing/2014/main" id="{BE77050C-9439-ECE1-51A4-47733D3D5684}"/>
              </a:ext>
            </a:extLst>
          </p:cNvPr>
          <p:cNvSpPr txBox="1">
            <a:spLocks noGrp="1"/>
          </p:cNvSpPr>
          <p:nvPr>
            <p:ph type="title"/>
          </p:nvPr>
        </p:nvSpPr>
        <p:spPr>
          <a:xfrm>
            <a:off x="1434913" y="851648"/>
            <a:ext cx="5423088" cy="853836"/>
          </a:xfrm>
          <a:prstGeom prst="rect">
            <a:avLst/>
          </a:prstGeom>
        </p:spPr>
        <p:txBody>
          <a:bodyPr vert="horz" wrap="square" lIns="0" tIns="361390" rIns="0" bIns="0" rtlCol="0">
            <a:spAutoFit/>
          </a:bodyPr>
          <a:lstStyle/>
          <a:p>
            <a:pPr marL="756433">
              <a:spcBef>
                <a:spcPts val="88"/>
              </a:spcBef>
            </a:pPr>
            <a:r>
              <a:rPr lang="en-IN" sz="3177" b="1" i="0" dirty="0"/>
              <a:t>OUTCOMES</a:t>
            </a:r>
            <a:endParaRPr sz="3177" b="1" i="0" dirty="0">
              <a:latin typeface="Verdana"/>
              <a:cs typeface="Verdana"/>
            </a:endParaRPr>
          </a:p>
        </p:txBody>
      </p:sp>
      <p:sp>
        <p:nvSpPr>
          <p:cNvPr id="6" name="Rectangle: Rounded Corners 5">
            <a:extLst>
              <a:ext uri="{FF2B5EF4-FFF2-40B4-BE49-F238E27FC236}">
                <a16:creationId xmlns:a16="http://schemas.microsoft.com/office/drawing/2014/main" id="{7CE1A65D-C448-20A3-5BE8-7254FCD6A7E7}"/>
              </a:ext>
            </a:extLst>
          </p:cNvPr>
          <p:cNvSpPr/>
          <p:nvPr/>
        </p:nvSpPr>
        <p:spPr>
          <a:xfrm>
            <a:off x="336176" y="5154707"/>
            <a:ext cx="1802130" cy="268941"/>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bject 3">
            <a:extLst>
              <a:ext uri="{FF2B5EF4-FFF2-40B4-BE49-F238E27FC236}">
                <a16:creationId xmlns:a16="http://schemas.microsoft.com/office/drawing/2014/main" id="{95CDF3F8-7872-B238-4DC1-6E47D36892F3}"/>
              </a:ext>
            </a:extLst>
          </p:cNvPr>
          <p:cNvSpPr txBox="1"/>
          <p:nvPr/>
        </p:nvSpPr>
        <p:spPr>
          <a:xfrm>
            <a:off x="445994" y="2193215"/>
            <a:ext cx="6075830" cy="5714619"/>
          </a:xfrm>
          <a:prstGeom prst="rect">
            <a:avLst/>
          </a:prstGeom>
        </p:spPr>
        <p:txBody>
          <a:bodyPr vert="horz" wrap="square" lIns="0" tIns="10646" rIns="0" bIns="0" rtlCol="0">
            <a:spAutoFit/>
          </a:bodyPr>
          <a:lstStyle/>
          <a:p>
            <a:r>
              <a:rPr lang="en-US" sz="1765" dirty="0"/>
              <a:t>This project helped in understanding how Python can be used to build secure and practical applications. By developing the Password Manager, I learned how to connect Python with MySQL and perform important operations like storing, retrieving, and managing data efficiently. The project also strengthened my understanding of encryption and why it is important to protect sensitive information like passwords.</a:t>
            </a:r>
          </a:p>
          <a:p>
            <a:endParaRPr lang="en-US" sz="1765" dirty="0"/>
          </a:p>
          <a:p>
            <a:r>
              <a:rPr lang="en-US" sz="1765" dirty="0"/>
              <a:t>Working on this project improved my skills in backend programming, database handling, and secure data storage. I also gained hands-on experience with libraries such as </a:t>
            </a:r>
            <a:r>
              <a:rPr lang="en-US" sz="1765" dirty="0" err="1"/>
              <a:t>mysql.connector</a:t>
            </a:r>
            <a:r>
              <a:rPr lang="en-US" sz="1765" dirty="0"/>
              <a:t> and cryptography, which are commonly used in real-world applications. The project shows how a simple program can become powerful when combined with proper security methods.</a:t>
            </a:r>
          </a:p>
          <a:p>
            <a:endParaRPr lang="en-US" sz="1765" dirty="0"/>
          </a:p>
          <a:p>
            <a:r>
              <a:rPr lang="en-US" sz="1765" dirty="0"/>
              <a:t>Overall, the Password Manager successfully achieves its goal of storing passwords securely and making the user experience easy and reliable. It demonstrates the practical use of programming concepts in solving everyday problems related to password management.</a:t>
            </a:r>
          </a:p>
        </p:txBody>
      </p:sp>
      <p:sp>
        <p:nvSpPr>
          <p:cNvPr id="5" name="object 5">
            <a:extLst>
              <a:ext uri="{FF2B5EF4-FFF2-40B4-BE49-F238E27FC236}">
                <a16:creationId xmlns:a16="http://schemas.microsoft.com/office/drawing/2014/main" id="{421A9DEC-6225-3472-DA92-9678ED02BA68}"/>
              </a:ext>
            </a:extLst>
          </p:cNvPr>
          <p:cNvSpPr/>
          <p:nvPr/>
        </p:nvSpPr>
        <p:spPr>
          <a:xfrm>
            <a:off x="268943" y="784412"/>
            <a:ext cx="6322919" cy="8339978"/>
          </a:xfrm>
          <a:custGeom>
            <a:avLst/>
            <a:gdLst/>
            <a:ahLst/>
            <a:cxnLst/>
            <a:rect l="l" t="t" r="r" b="b"/>
            <a:pathLst>
              <a:path w="7165975" h="9451975">
                <a:moveTo>
                  <a:pt x="7165975" y="0"/>
                </a:moveTo>
                <a:lnTo>
                  <a:pt x="7159625" y="0"/>
                </a:lnTo>
                <a:lnTo>
                  <a:pt x="7159625" y="6350"/>
                </a:lnTo>
                <a:lnTo>
                  <a:pt x="7159625" y="9445625"/>
                </a:lnTo>
                <a:lnTo>
                  <a:pt x="6350" y="9445625"/>
                </a:lnTo>
                <a:lnTo>
                  <a:pt x="6350" y="6350"/>
                </a:lnTo>
                <a:lnTo>
                  <a:pt x="7159625" y="6350"/>
                </a:lnTo>
                <a:lnTo>
                  <a:pt x="7159625" y="0"/>
                </a:lnTo>
                <a:lnTo>
                  <a:pt x="6350" y="0"/>
                </a:lnTo>
                <a:lnTo>
                  <a:pt x="0" y="0"/>
                </a:lnTo>
                <a:lnTo>
                  <a:pt x="0" y="6350"/>
                </a:lnTo>
                <a:lnTo>
                  <a:pt x="0" y="9445625"/>
                </a:lnTo>
                <a:lnTo>
                  <a:pt x="0" y="9451975"/>
                </a:lnTo>
                <a:lnTo>
                  <a:pt x="6350" y="9451975"/>
                </a:lnTo>
                <a:lnTo>
                  <a:pt x="7159625" y="9451975"/>
                </a:lnTo>
                <a:lnTo>
                  <a:pt x="7165975" y="9451975"/>
                </a:lnTo>
                <a:lnTo>
                  <a:pt x="7165975" y="9445625"/>
                </a:lnTo>
                <a:lnTo>
                  <a:pt x="7165975" y="6350"/>
                </a:lnTo>
                <a:lnTo>
                  <a:pt x="7165975"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4251176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160E359-9ABB-DDDB-C2F4-4E737D04D09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807F7A9-01BA-804A-A71E-C6A891B3C946}"/>
              </a:ext>
            </a:extLst>
          </p:cNvPr>
          <p:cNvSpPr txBox="1">
            <a:spLocks noGrp="1"/>
          </p:cNvSpPr>
          <p:nvPr>
            <p:ph type="title"/>
          </p:nvPr>
        </p:nvSpPr>
        <p:spPr>
          <a:xfrm>
            <a:off x="1300442" y="609600"/>
            <a:ext cx="5423088" cy="853836"/>
          </a:xfrm>
          <a:prstGeom prst="rect">
            <a:avLst/>
          </a:prstGeom>
        </p:spPr>
        <p:txBody>
          <a:bodyPr vert="horz" wrap="square" lIns="0" tIns="361390" rIns="0" bIns="0" rtlCol="0">
            <a:spAutoFit/>
          </a:bodyPr>
          <a:lstStyle/>
          <a:p>
            <a:pPr marL="756433">
              <a:spcBef>
                <a:spcPts val="88"/>
              </a:spcBef>
            </a:pPr>
            <a:r>
              <a:rPr lang="en-IN" sz="3177" b="1" i="0" dirty="0"/>
              <a:t>ADVANTAGES</a:t>
            </a:r>
            <a:endParaRPr sz="3177" b="1" i="0" dirty="0">
              <a:latin typeface="Verdana"/>
              <a:cs typeface="Verdana"/>
            </a:endParaRPr>
          </a:p>
        </p:txBody>
      </p:sp>
      <p:sp>
        <p:nvSpPr>
          <p:cNvPr id="3" name="object 3">
            <a:extLst>
              <a:ext uri="{FF2B5EF4-FFF2-40B4-BE49-F238E27FC236}">
                <a16:creationId xmlns:a16="http://schemas.microsoft.com/office/drawing/2014/main" id="{34A681CB-6101-9777-EF42-B0BD7F891FC7}"/>
              </a:ext>
            </a:extLst>
          </p:cNvPr>
          <p:cNvSpPr txBox="1"/>
          <p:nvPr/>
        </p:nvSpPr>
        <p:spPr>
          <a:xfrm>
            <a:off x="445994" y="1921065"/>
            <a:ext cx="6075830" cy="5987307"/>
          </a:xfrm>
          <a:prstGeom prst="rect">
            <a:avLst/>
          </a:prstGeom>
        </p:spPr>
        <p:txBody>
          <a:bodyPr vert="horz" wrap="square" lIns="0" tIns="10646" rIns="0" bIns="0" rtlCol="0">
            <a:spAutoFit/>
          </a:bodyPr>
          <a:lstStyle/>
          <a:p>
            <a:r>
              <a:rPr lang="en-US" sz="1765" dirty="0"/>
              <a:t>The Password Manager offers a secure and convenient way to store and manage multiple passwords. Since all passwords are encrypted before being saved, users can be confident that their data remains protected even if someone accesses the database. This reduces the risk of hacking and improves overall digital safety.</a:t>
            </a:r>
          </a:p>
          <a:p>
            <a:endParaRPr lang="en-US" sz="1765" dirty="0"/>
          </a:p>
          <a:p>
            <a:r>
              <a:rPr lang="en-US" sz="1765" dirty="0"/>
              <a:t>The project also saves time by eliminating the need to remember several complex passwords. Users can easily add new passwords, generate strong ones automatically, and retrieve them whenever needed through a simple menu interface. This makes the system user-friendly and suitable for everyday use.</a:t>
            </a:r>
          </a:p>
          <a:p>
            <a:endParaRPr lang="en-US" sz="1765" dirty="0"/>
          </a:p>
          <a:p>
            <a:r>
              <a:rPr lang="en-US" sz="1765" dirty="0"/>
              <a:t>Another major advantage is that the project requires very minimal system resources and works smoothly on most computers. It demonstrates how Python and MySQL can be combined to create efficient, secure, and practical applications, making it a useful learning tool for understanding real-world programming concepts.</a:t>
            </a:r>
          </a:p>
        </p:txBody>
      </p:sp>
      <p:sp>
        <p:nvSpPr>
          <p:cNvPr id="5" name="object 5">
            <a:extLst>
              <a:ext uri="{FF2B5EF4-FFF2-40B4-BE49-F238E27FC236}">
                <a16:creationId xmlns:a16="http://schemas.microsoft.com/office/drawing/2014/main" id="{1CA9C355-A677-44F8-E174-92F0C045C8AA}"/>
              </a:ext>
            </a:extLst>
          </p:cNvPr>
          <p:cNvSpPr/>
          <p:nvPr/>
        </p:nvSpPr>
        <p:spPr>
          <a:xfrm>
            <a:off x="268943" y="367413"/>
            <a:ext cx="6322919" cy="9173976"/>
          </a:xfrm>
          <a:custGeom>
            <a:avLst/>
            <a:gdLst/>
            <a:ahLst/>
            <a:cxnLst/>
            <a:rect l="l" t="t" r="r" b="b"/>
            <a:pathLst>
              <a:path w="7165975" h="9451975">
                <a:moveTo>
                  <a:pt x="7165975" y="0"/>
                </a:moveTo>
                <a:lnTo>
                  <a:pt x="7159625" y="0"/>
                </a:lnTo>
                <a:lnTo>
                  <a:pt x="7159625" y="6350"/>
                </a:lnTo>
                <a:lnTo>
                  <a:pt x="7159625" y="9445625"/>
                </a:lnTo>
                <a:lnTo>
                  <a:pt x="6350" y="9445625"/>
                </a:lnTo>
                <a:lnTo>
                  <a:pt x="6350" y="6350"/>
                </a:lnTo>
                <a:lnTo>
                  <a:pt x="7159625" y="6350"/>
                </a:lnTo>
                <a:lnTo>
                  <a:pt x="7159625" y="0"/>
                </a:lnTo>
                <a:lnTo>
                  <a:pt x="6350" y="0"/>
                </a:lnTo>
                <a:lnTo>
                  <a:pt x="0" y="0"/>
                </a:lnTo>
                <a:lnTo>
                  <a:pt x="0" y="6350"/>
                </a:lnTo>
                <a:lnTo>
                  <a:pt x="0" y="9445625"/>
                </a:lnTo>
                <a:lnTo>
                  <a:pt x="0" y="9451975"/>
                </a:lnTo>
                <a:lnTo>
                  <a:pt x="6350" y="9451975"/>
                </a:lnTo>
                <a:lnTo>
                  <a:pt x="7159625" y="9451975"/>
                </a:lnTo>
                <a:lnTo>
                  <a:pt x="7165975" y="9451975"/>
                </a:lnTo>
                <a:lnTo>
                  <a:pt x="7165975" y="9445625"/>
                </a:lnTo>
                <a:lnTo>
                  <a:pt x="7165975" y="6350"/>
                </a:lnTo>
                <a:lnTo>
                  <a:pt x="7165975"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140894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410444A-D015-D673-017D-195568BA91E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1A9293-48EF-E2DD-1F52-86EFCF1ECD43}"/>
              </a:ext>
            </a:extLst>
          </p:cNvPr>
          <p:cNvSpPr txBox="1">
            <a:spLocks noGrp="1"/>
          </p:cNvSpPr>
          <p:nvPr>
            <p:ph type="title"/>
          </p:nvPr>
        </p:nvSpPr>
        <p:spPr>
          <a:xfrm>
            <a:off x="537883" y="533401"/>
            <a:ext cx="5423088" cy="853836"/>
          </a:xfrm>
          <a:prstGeom prst="rect">
            <a:avLst/>
          </a:prstGeom>
        </p:spPr>
        <p:txBody>
          <a:bodyPr vert="horz" wrap="square" lIns="0" tIns="361390" rIns="0" bIns="0" rtlCol="0">
            <a:spAutoFit/>
          </a:bodyPr>
          <a:lstStyle/>
          <a:p>
            <a:pPr marL="756433">
              <a:spcBef>
                <a:spcPts val="88"/>
              </a:spcBef>
            </a:pPr>
            <a:r>
              <a:rPr lang="en-IN" sz="3177" b="1" i="0" dirty="0"/>
              <a:t>FLOWCHART OF THE CODE</a:t>
            </a:r>
            <a:endParaRPr sz="3177" b="1" i="0" dirty="0">
              <a:latin typeface="Verdana"/>
              <a:cs typeface="Verdana"/>
            </a:endParaRPr>
          </a:p>
        </p:txBody>
      </p:sp>
      <p:sp>
        <p:nvSpPr>
          <p:cNvPr id="5" name="object 5">
            <a:extLst>
              <a:ext uri="{FF2B5EF4-FFF2-40B4-BE49-F238E27FC236}">
                <a16:creationId xmlns:a16="http://schemas.microsoft.com/office/drawing/2014/main" id="{AB093947-5493-AC8D-801F-4841EB4A53BC}"/>
              </a:ext>
            </a:extLst>
          </p:cNvPr>
          <p:cNvSpPr/>
          <p:nvPr/>
        </p:nvSpPr>
        <p:spPr>
          <a:xfrm>
            <a:off x="268943" y="784412"/>
            <a:ext cx="6322919" cy="8339978"/>
          </a:xfrm>
          <a:custGeom>
            <a:avLst/>
            <a:gdLst/>
            <a:ahLst/>
            <a:cxnLst/>
            <a:rect l="l" t="t" r="r" b="b"/>
            <a:pathLst>
              <a:path w="7165975" h="9451975">
                <a:moveTo>
                  <a:pt x="7165975" y="0"/>
                </a:moveTo>
                <a:lnTo>
                  <a:pt x="7159625" y="0"/>
                </a:lnTo>
                <a:lnTo>
                  <a:pt x="7159625" y="6350"/>
                </a:lnTo>
                <a:lnTo>
                  <a:pt x="7159625" y="9445625"/>
                </a:lnTo>
                <a:lnTo>
                  <a:pt x="6350" y="9445625"/>
                </a:lnTo>
                <a:lnTo>
                  <a:pt x="6350" y="6350"/>
                </a:lnTo>
                <a:lnTo>
                  <a:pt x="7159625" y="6350"/>
                </a:lnTo>
                <a:lnTo>
                  <a:pt x="7159625" y="0"/>
                </a:lnTo>
                <a:lnTo>
                  <a:pt x="6350" y="0"/>
                </a:lnTo>
                <a:lnTo>
                  <a:pt x="0" y="0"/>
                </a:lnTo>
                <a:lnTo>
                  <a:pt x="0" y="6350"/>
                </a:lnTo>
                <a:lnTo>
                  <a:pt x="0" y="9445625"/>
                </a:lnTo>
                <a:lnTo>
                  <a:pt x="0" y="9451975"/>
                </a:lnTo>
                <a:lnTo>
                  <a:pt x="6350" y="9451975"/>
                </a:lnTo>
                <a:lnTo>
                  <a:pt x="7159625" y="9451975"/>
                </a:lnTo>
                <a:lnTo>
                  <a:pt x="7165975" y="9451975"/>
                </a:lnTo>
                <a:lnTo>
                  <a:pt x="7165975" y="9445625"/>
                </a:lnTo>
                <a:lnTo>
                  <a:pt x="7165975" y="6350"/>
                </a:lnTo>
                <a:lnTo>
                  <a:pt x="7165975" y="0"/>
                </a:lnTo>
                <a:close/>
              </a:path>
            </a:pathLst>
          </a:custGeom>
          <a:solidFill>
            <a:srgbClr val="000000"/>
          </a:solidFill>
        </p:spPr>
        <p:txBody>
          <a:bodyPr wrap="square" lIns="0" tIns="0" rIns="0" bIns="0" rtlCol="0"/>
          <a:lstStyle/>
          <a:p>
            <a:endParaRPr/>
          </a:p>
        </p:txBody>
      </p:sp>
      <p:pic>
        <p:nvPicPr>
          <p:cNvPr id="4" name="Picture 3" descr="A diagram of a computer program">
            <a:extLst>
              <a:ext uri="{FF2B5EF4-FFF2-40B4-BE49-F238E27FC236}">
                <a16:creationId xmlns:a16="http://schemas.microsoft.com/office/drawing/2014/main" id="{EE840B31-EA13-C0D1-CAF0-5835296AC1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600" y="1857439"/>
            <a:ext cx="4606902" cy="6866891"/>
          </a:xfrm>
          <a:prstGeom prst="rect">
            <a:avLst/>
          </a:prstGeom>
        </p:spPr>
      </p:pic>
    </p:spTree>
    <p:extLst>
      <p:ext uri="{BB962C8B-B14F-4D97-AF65-F5344CB8AC3E}">
        <p14:creationId xmlns:p14="http://schemas.microsoft.com/office/powerpoint/2010/main" val="1634629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0F8FE2-DF9E-E301-2EA8-68DDE2A23AF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7AE95C2-998F-B1FF-BC5E-F515FA45622F}"/>
              </a:ext>
            </a:extLst>
          </p:cNvPr>
          <p:cNvSpPr txBox="1">
            <a:spLocks noGrp="1"/>
          </p:cNvSpPr>
          <p:nvPr>
            <p:ph type="title"/>
          </p:nvPr>
        </p:nvSpPr>
        <p:spPr>
          <a:xfrm>
            <a:off x="1613648" y="894007"/>
            <a:ext cx="5423088" cy="853836"/>
          </a:xfrm>
          <a:prstGeom prst="rect">
            <a:avLst/>
          </a:prstGeom>
        </p:spPr>
        <p:txBody>
          <a:bodyPr vert="horz" wrap="square" lIns="0" tIns="361390" rIns="0" bIns="0" rtlCol="0">
            <a:spAutoFit/>
          </a:bodyPr>
          <a:lstStyle/>
          <a:p>
            <a:pPr marL="756433">
              <a:spcBef>
                <a:spcPts val="88"/>
              </a:spcBef>
            </a:pPr>
            <a:r>
              <a:rPr lang="en-IN" sz="3177" b="1" i="0" dirty="0"/>
              <a:t>REFERENCE</a:t>
            </a:r>
            <a:endParaRPr sz="3177" b="1" i="0" dirty="0">
              <a:latin typeface="Verdana"/>
              <a:cs typeface="Verdana"/>
            </a:endParaRPr>
          </a:p>
        </p:txBody>
      </p:sp>
      <p:sp>
        <p:nvSpPr>
          <p:cNvPr id="5" name="object 5">
            <a:extLst>
              <a:ext uri="{FF2B5EF4-FFF2-40B4-BE49-F238E27FC236}">
                <a16:creationId xmlns:a16="http://schemas.microsoft.com/office/drawing/2014/main" id="{96576F09-CB2D-7E82-CCC4-432EBE195890}"/>
              </a:ext>
            </a:extLst>
          </p:cNvPr>
          <p:cNvSpPr/>
          <p:nvPr/>
        </p:nvSpPr>
        <p:spPr>
          <a:xfrm>
            <a:off x="268943" y="784412"/>
            <a:ext cx="6322919" cy="8339978"/>
          </a:xfrm>
          <a:custGeom>
            <a:avLst/>
            <a:gdLst/>
            <a:ahLst/>
            <a:cxnLst/>
            <a:rect l="l" t="t" r="r" b="b"/>
            <a:pathLst>
              <a:path w="7165975" h="9451975">
                <a:moveTo>
                  <a:pt x="7165975" y="0"/>
                </a:moveTo>
                <a:lnTo>
                  <a:pt x="7159625" y="0"/>
                </a:lnTo>
                <a:lnTo>
                  <a:pt x="7159625" y="6350"/>
                </a:lnTo>
                <a:lnTo>
                  <a:pt x="7159625" y="9445625"/>
                </a:lnTo>
                <a:lnTo>
                  <a:pt x="6350" y="9445625"/>
                </a:lnTo>
                <a:lnTo>
                  <a:pt x="6350" y="6350"/>
                </a:lnTo>
                <a:lnTo>
                  <a:pt x="7159625" y="6350"/>
                </a:lnTo>
                <a:lnTo>
                  <a:pt x="7159625" y="0"/>
                </a:lnTo>
                <a:lnTo>
                  <a:pt x="6350" y="0"/>
                </a:lnTo>
                <a:lnTo>
                  <a:pt x="0" y="0"/>
                </a:lnTo>
                <a:lnTo>
                  <a:pt x="0" y="6350"/>
                </a:lnTo>
                <a:lnTo>
                  <a:pt x="0" y="9445625"/>
                </a:lnTo>
                <a:lnTo>
                  <a:pt x="0" y="9451975"/>
                </a:lnTo>
                <a:lnTo>
                  <a:pt x="6350" y="9451975"/>
                </a:lnTo>
                <a:lnTo>
                  <a:pt x="7159625" y="9451975"/>
                </a:lnTo>
                <a:lnTo>
                  <a:pt x="7165975" y="9451975"/>
                </a:lnTo>
                <a:lnTo>
                  <a:pt x="7165975" y="9445625"/>
                </a:lnTo>
                <a:lnTo>
                  <a:pt x="7165975" y="6350"/>
                </a:lnTo>
                <a:lnTo>
                  <a:pt x="7165975" y="0"/>
                </a:lnTo>
                <a:close/>
              </a:path>
            </a:pathLst>
          </a:custGeom>
          <a:solidFill>
            <a:srgbClr val="000000"/>
          </a:solidFill>
        </p:spPr>
        <p:txBody>
          <a:bodyPr wrap="square" lIns="0" tIns="0" rIns="0" bIns="0" rtlCol="0"/>
          <a:lstStyle/>
          <a:p>
            <a:endParaRPr/>
          </a:p>
        </p:txBody>
      </p:sp>
      <p:sp>
        <p:nvSpPr>
          <p:cNvPr id="6" name="Rectangle 1">
            <a:extLst>
              <a:ext uri="{FF2B5EF4-FFF2-40B4-BE49-F238E27FC236}">
                <a16:creationId xmlns:a16="http://schemas.microsoft.com/office/drawing/2014/main" id="{2A88DED6-B7F9-D0C7-B4C5-E63A4DE9F67D}"/>
              </a:ext>
            </a:extLst>
          </p:cNvPr>
          <p:cNvSpPr>
            <a:spLocks noChangeArrowheads="1"/>
          </p:cNvSpPr>
          <p:nvPr/>
        </p:nvSpPr>
        <p:spPr bwMode="auto">
          <a:xfrm>
            <a:off x="403412" y="2264203"/>
            <a:ext cx="6188449" cy="6190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682" tIns="40341" rIns="80682" bIns="40341" numCol="1" anchor="ctr" anchorCtr="0" compatLnSpc="1">
            <a:prstTxWarp prst="textNoShape">
              <a:avLst/>
            </a:prstTxWarp>
            <a:spAutoFit/>
          </a:bodyPr>
          <a:lstStyle/>
          <a:p>
            <a:pPr algn="l" defTabSz="806862" rtl="0" eaLnBrk="0" fontAlgn="base" hangingPunct="0">
              <a:spcBef>
                <a:spcPct val="0"/>
              </a:spcBef>
              <a:spcAft>
                <a:spcPct val="0"/>
              </a:spcAft>
              <a:buFontTx/>
              <a:buChar char="•"/>
            </a:pPr>
            <a:r>
              <a:rPr lang="en-US" altLang="en-US" sz="1588" b="1" dirty="0">
                <a:solidFill>
                  <a:schemeClr val="tx1"/>
                </a:solidFill>
                <a:latin typeface="Arial" panose="020B0604020202020204" pitchFamily="34" charset="0"/>
              </a:rPr>
              <a:t>NCERT – Informatics Practices (Class XII)</a:t>
            </a:r>
            <a:br>
              <a:rPr lang="en-US" altLang="en-US" sz="1588" dirty="0">
                <a:solidFill>
                  <a:schemeClr val="tx1"/>
                </a:solidFill>
                <a:latin typeface="Arial" panose="020B0604020202020204" pitchFamily="34" charset="0"/>
              </a:rPr>
            </a:br>
            <a:r>
              <a:rPr lang="en-US" altLang="en-US" sz="1588" dirty="0">
                <a:solidFill>
                  <a:schemeClr val="tx1"/>
                </a:solidFill>
                <a:latin typeface="Arial" panose="020B0604020202020204" pitchFamily="34" charset="0"/>
              </a:rPr>
              <a:t>Concepts of Python, MySQL connectivity, and database operations.</a:t>
            </a:r>
          </a:p>
          <a:p>
            <a:pPr algn="l" defTabSz="806862" rtl="0" eaLnBrk="0" fontAlgn="base" hangingPunct="0">
              <a:spcBef>
                <a:spcPct val="0"/>
              </a:spcBef>
              <a:spcAft>
                <a:spcPct val="0"/>
              </a:spcAft>
            </a:pPr>
            <a:endParaRPr lang="en-US" altLang="en-US" sz="1588" dirty="0">
              <a:solidFill>
                <a:schemeClr val="tx1"/>
              </a:solidFill>
              <a:latin typeface="Arial" panose="020B0604020202020204" pitchFamily="34" charset="0"/>
            </a:endParaRPr>
          </a:p>
          <a:p>
            <a:pPr algn="l" defTabSz="806862" rtl="0" eaLnBrk="0" fontAlgn="base" hangingPunct="0">
              <a:spcBef>
                <a:spcPct val="0"/>
              </a:spcBef>
              <a:spcAft>
                <a:spcPct val="0"/>
              </a:spcAft>
              <a:buFontTx/>
              <a:buChar char="•"/>
            </a:pPr>
            <a:r>
              <a:rPr lang="en-US" altLang="en-US" sz="1588" b="1" dirty="0">
                <a:solidFill>
                  <a:schemeClr val="tx1"/>
                </a:solidFill>
                <a:latin typeface="Arial" panose="020B0604020202020204" pitchFamily="34" charset="0"/>
              </a:rPr>
              <a:t>Python Official Documentation</a:t>
            </a:r>
            <a:br>
              <a:rPr lang="en-US" altLang="en-US" sz="1588" dirty="0">
                <a:solidFill>
                  <a:schemeClr val="tx1"/>
                </a:solidFill>
                <a:latin typeface="Arial" panose="020B0604020202020204" pitchFamily="34" charset="0"/>
              </a:rPr>
            </a:br>
            <a:r>
              <a:rPr lang="en-US" altLang="en-US" sz="1588" dirty="0">
                <a:solidFill>
                  <a:schemeClr val="tx1"/>
                </a:solidFill>
                <a:latin typeface="Arial" panose="020B0604020202020204" pitchFamily="34" charset="0"/>
                <a:hlinkClick r:id="rId2"/>
              </a:rPr>
              <a:t>https://docs.python.org</a:t>
            </a:r>
            <a:br>
              <a:rPr lang="en-US" altLang="en-US" sz="1588" dirty="0">
                <a:solidFill>
                  <a:schemeClr val="tx1"/>
                </a:solidFill>
                <a:latin typeface="Arial" panose="020B0604020202020204" pitchFamily="34" charset="0"/>
              </a:rPr>
            </a:br>
            <a:r>
              <a:rPr lang="en-US" altLang="en-US" sz="1588" dirty="0">
                <a:solidFill>
                  <a:schemeClr val="tx1"/>
                </a:solidFill>
                <a:latin typeface="Arial" panose="020B0604020202020204" pitchFamily="34" charset="0"/>
              </a:rPr>
              <a:t>Used for understanding Python syntax, modules, and functions.</a:t>
            </a:r>
          </a:p>
          <a:p>
            <a:pPr algn="l" defTabSz="806862" rtl="0" eaLnBrk="0" fontAlgn="base" hangingPunct="0">
              <a:spcBef>
                <a:spcPct val="0"/>
              </a:spcBef>
              <a:spcAft>
                <a:spcPct val="0"/>
              </a:spcAft>
            </a:pPr>
            <a:endParaRPr lang="en-US" altLang="en-US" sz="1588" dirty="0">
              <a:solidFill>
                <a:schemeClr val="tx1"/>
              </a:solidFill>
              <a:latin typeface="Arial" panose="020B0604020202020204" pitchFamily="34" charset="0"/>
            </a:endParaRPr>
          </a:p>
          <a:p>
            <a:pPr algn="l" defTabSz="806862" rtl="0" eaLnBrk="0" fontAlgn="base" hangingPunct="0">
              <a:spcBef>
                <a:spcPct val="0"/>
              </a:spcBef>
              <a:spcAft>
                <a:spcPct val="0"/>
              </a:spcAft>
              <a:buFontTx/>
              <a:buChar char="•"/>
            </a:pPr>
            <a:r>
              <a:rPr lang="en-US" altLang="en-US" sz="1588" b="1" dirty="0">
                <a:solidFill>
                  <a:schemeClr val="tx1"/>
                </a:solidFill>
                <a:latin typeface="Arial" panose="020B0604020202020204" pitchFamily="34" charset="0"/>
              </a:rPr>
              <a:t>MySQL Official Documentation</a:t>
            </a:r>
            <a:br>
              <a:rPr lang="en-US" altLang="en-US" sz="1588" dirty="0">
                <a:solidFill>
                  <a:schemeClr val="tx1"/>
                </a:solidFill>
                <a:latin typeface="Arial" panose="020B0604020202020204" pitchFamily="34" charset="0"/>
              </a:rPr>
            </a:br>
            <a:r>
              <a:rPr lang="en-US" altLang="en-US" sz="1588" dirty="0">
                <a:solidFill>
                  <a:schemeClr val="tx1"/>
                </a:solidFill>
                <a:latin typeface="Arial" panose="020B0604020202020204" pitchFamily="34" charset="0"/>
                <a:hlinkClick r:id="rId3"/>
              </a:rPr>
              <a:t>https://dev.mysql.com/doc</a:t>
            </a:r>
            <a:br>
              <a:rPr lang="en-US" altLang="en-US" sz="1588" dirty="0">
                <a:solidFill>
                  <a:schemeClr val="tx1"/>
                </a:solidFill>
                <a:latin typeface="Arial" panose="020B0604020202020204" pitchFamily="34" charset="0"/>
              </a:rPr>
            </a:br>
            <a:r>
              <a:rPr lang="en-US" altLang="en-US" sz="1588" dirty="0">
                <a:solidFill>
                  <a:schemeClr val="tx1"/>
                </a:solidFill>
                <a:latin typeface="Arial" panose="020B0604020202020204" pitchFamily="34" charset="0"/>
              </a:rPr>
              <a:t>Referred for SQL commands, table creation, and database connectivity.</a:t>
            </a:r>
          </a:p>
          <a:p>
            <a:pPr algn="l" defTabSz="806862" rtl="0" eaLnBrk="0" fontAlgn="base" hangingPunct="0">
              <a:spcBef>
                <a:spcPct val="0"/>
              </a:spcBef>
              <a:spcAft>
                <a:spcPct val="0"/>
              </a:spcAft>
            </a:pPr>
            <a:endParaRPr lang="en-US" altLang="en-US" sz="1588" dirty="0">
              <a:solidFill>
                <a:schemeClr val="tx1"/>
              </a:solidFill>
              <a:latin typeface="Arial" panose="020B0604020202020204" pitchFamily="34" charset="0"/>
            </a:endParaRPr>
          </a:p>
          <a:p>
            <a:pPr algn="l" defTabSz="806862" rtl="0" eaLnBrk="0" fontAlgn="base" hangingPunct="0">
              <a:spcBef>
                <a:spcPct val="0"/>
              </a:spcBef>
              <a:spcAft>
                <a:spcPct val="0"/>
              </a:spcAft>
              <a:buFontTx/>
              <a:buChar char="•"/>
            </a:pPr>
            <a:r>
              <a:rPr lang="en-US" altLang="en-US" sz="1588" b="1" dirty="0">
                <a:solidFill>
                  <a:schemeClr val="tx1"/>
                </a:solidFill>
                <a:latin typeface="Arial" panose="020B0604020202020204" pitchFamily="34" charset="0"/>
              </a:rPr>
              <a:t>Cryptography Library Documentation</a:t>
            </a:r>
            <a:br>
              <a:rPr lang="en-US" altLang="en-US" sz="1588" dirty="0">
                <a:solidFill>
                  <a:schemeClr val="tx1"/>
                </a:solidFill>
                <a:latin typeface="Arial" panose="020B0604020202020204" pitchFamily="34" charset="0"/>
              </a:rPr>
            </a:br>
            <a:r>
              <a:rPr lang="en-US" altLang="en-US" sz="1588" dirty="0">
                <a:solidFill>
                  <a:schemeClr val="tx1"/>
                </a:solidFill>
                <a:latin typeface="Arial" panose="020B0604020202020204" pitchFamily="34" charset="0"/>
                <a:hlinkClick r:id="rId4"/>
              </a:rPr>
              <a:t>https://cryptography.io</a:t>
            </a:r>
            <a:br>
              <a:rPr lang="en-US" altLang="en-US" sz="1588" dirty="0">
                <a:solidFill>
                  <a:schemeClr val="tx1"/>
                </a:solidFill>
                <a:latin typeface="Arial" panose="020B0604020202020204" pitchFamily="34" charset="0"/>
              </a:rPr>
            </a:br>
            <a:r>
              <a:rPr lang="en-US" altLang="en-US" sz="1588" dirty="0">
                <a:solidFill>
                  <a:schemeClr val="tx1"/>
                </a:solidFill>
                <a:latin typeface="Arial" panose="020B0604020202020204" pitchFamily="34" charset="0"/>
              </a:rPr>
              <a:t>Used to understand the Fernet encryption technique.</a:t>
            </a:r>
          </a:p>
          <a:p>
            <a:pPr algn="l" defTabSz="806862" rtl="0" eaLnBrk="0" fontAlgn="base" hangingPunct="0">
              <a:spcBef>
                <a:spcPct val="0"/>
              </a:spcBef>
              <a:spcAft>
                <a:spcPct val="0"/>
              </a:spcAft>
            </a:pPr>
            <a:endParaRPr lang="en-US" altLang="en-US" sz="1588" dirty="0">
              <a:solidFill>
                <a:schemeClr val="tx1"/>
              </a:solidFill>
              <a:latin typeface="Arial" panose="020B0604020202020204" pitchFamily="34" charset="0"/>
            </a:endParaRPr>
          </a:p>
          <a:p>
            <a:pPr algn="l" defTabSz="806862" rtl="0" eaLnBrk="0" fontAlgn="base" hangingPunct="0">
              <a:spcBef>
                <a:spcPct val="0"/>
              </a:spcBef>
              <a:spcAft>
                <a:spcPct val="0"/>
              </a:spcAft>
              <a:buFontTx/>
              <a:buChar char="•"/>
            </a:pPr>
            <a:r>
              <a:rPr lang="en-US" altLang="en-US" sz="1588" b="1" dirty="0">
                <a:solidFill>
                  <a:schemeClr val="tx1"/>
                </a:solidFill>
                <a:latin typeface="Arial" panose="020B0604020202020204" pitchFamily="34" charset="0"/>
              </a:rPr>
              <a:t>W3Schools – Python &amp; SQL Tutorials</a:t>
            </a:r>
            <a:br>
              <a:rPr lang="en-US" altLang="en-US" sz="1588" dirty="0">
                <a:solidFill>
                  <a:schemeClr val="tx1"/>
                </a:solidFill>
                <a:latin typeface="Arial" panose="020B0604020202020204" pitchFamily="34" charset="0"/>
              </a:rPr>
            </a:br>
            <a:r>
              <a:rPr lang="en-US" altLang="en-US" sz="1588" dirty="0">
                <a:solidFill>
                  <a:schemeClr val="tx1"/>
                </a:solidFill>
                <a:latin typeface="Arial" panose="020B0604020202020204" pitchFamily="34" charset="0"/>
                <a:hlinkClick r:id="rId5"/>
              </a:rPr>
              <a:t>https://www.w3schools.com</a:t>
            </a:r>
            <a:br>
              <a:rPr lang="en-US" altLang="en-US" sz="1588" dirty="0">
                <a:solidFill>
                  <a:schemeClr val="tx1"/>
                </a:solidFill>
                <a:latin typeface="Arial" panose="020B0604020202020204" pitchFamily="34" charset="0"/>
              </a:rPr>
            </a:br>
            <a:r>
              <a:rPr lang="en-US" altLang="en-US" sz="1588" dirty="0">
                <a:solidFill>
                  <a:schemeClr val="tx1"/>
                </a:solidFill>
                <a:latin typeface="Arial" panose="020B0604020202020204" pitchFamily="34" charset="0"/>
              </a:rPr>
              <a:t>Referred for basic examples of Python-MySQL integration and SQL queries.</a:t>
            </a:r>
          </a:p>
          <a:p>
            <a:pPr algn="l" defTabSz="806862" rtl="0" eaLnBrk="0" fontAlgn="base" hangingPunct="0">
              <a:spcBef>
                <a:spcPct val="0"/>
              </a:spcBef>
              <a:spcAft>
                <a:spcPct val="0"/>
              </a:spcAft>
            </a:pPr>
            <a:endParaRPr lang="en-US" altLang="en-US" sz="1588" dirty="0">
              <a:solidFill>
                <a:schemeClr val="tx1"/>
              </a:solidFill>
              <a:latin typeface="Arial" panose="020B0604020202020204" pitchFamily="34" charset="0"/>
            </a:endParaRPr>
          </a:p>
          <a:p>
            <a:pPr algn="l" defTabSz="806862" rtl="0" eaLnBrk="0" fontAlgn="base" hangingPunct="0">
              <a:spcBef>
                <a:spcPct val="0"/>
              </a:spcBef>
              <a:spcAft>
                <a:spcPct val="0"/>
              </a:spcAft>
              <a:buFontTx/>
              <a:buChar char="•"/>
            </a:pPr>
            <a:r>
              <a:rPr lang="en-US" altLang="en-US" sz="1588" b="1" dirty="0">
                <a:solidFill>
                  <a:schemeClr val="tx1"/>
                </a:solidFill>
                <a:latin typeface="Arial" panose="020B0604020202020204" pitchFamily="34" charset="0"/>
              </a:rPr>
              <a:t>Stack Overflow</a:t>
            </a:r>
            <a:br>
              <a:rPr lang="en-US" altLang="en-US" sz="1588" dirty="0">
                <a:solidFill>
                  <a:schemeClr val="tx1"/>
                </a:solidFill>
                <a:latin typeface="Arial" panose="020B0604020202020204" pitchFamily="34" charset="0"/>
              </a:rPr>
            </a:br>
            <a:r>
              <a:rPr lang="en-US" altLang="en-US" sz="1588" dirty="0">
                <a:solidFill>
                  <a:schemeClr val="tx1"/>
                </a:solidFill>
                <a:latin typeface="Arial" panose="020B0604020202020204" pitchFamily="34" charset="0"/>
              </a:rPr>
              <a:t>Used only for minor debugging and clarifications during project development.</a:t>
            </a:r>
          </a:p>
        </p:txBody>
      </p:sp>
    </p:spTree>
    <p:extLst>
      <p:ext uri="{BB962C8B-B14F-4D97-AF65-F5344CB8AC3E}">
        <p14:creationId xmlns:p14="http://schemas.microsoft.com/office/powerpoint/2010/main" val="3886050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background with black text&#10;&#10;AI-generated content may be incorrect.">
            <a:extLst>
              <a:ext uri="{FF2B5EF4-FFF2-40B4-BE49-F238E27FC236}">
                <a16:creationId xmlns:a16="http://schemas.microsoft.com/office/drawing/2014/main" id="{75D2F0A7-72C6-132D-F58B-5AF6557DE9E5}"/>
              </a:ext>
            </a:extLst>
          </p:cNvPr>
          <p:cNvPicPr>
            <a:picLocks noChangeAspect="1"/>
          </p:cNvPicPr>
          <p:nvPr/>
        </p:nvPicPr>
        <p:blipFill>
          <a:blip r:embed="rId2">
            <a:extLst>
              <a:ext uri="{28A0092B-C50C-407E-A947-70E740481C1C}">
                <a14:useLocalDpi xmlns:a14="http://schemas.microsoft.com/office/drawing/2010/main" val="0"/>
              </a:ext>
            </a:extLst>
          </a:blip>
          <a:srcRect r="50980"/>
          <a:stretch>
            <a:fillRect/>
          </a:stretch>
        </p:blipFill>
        <p:spPr>
          <a:xfrm>
            <a:off x="258437" y="1295401"/>
            <a:ext cx="6572131" cy="6010835"/>
          </a:xfrm>
          <a:prstGeom prst="rect">
            <a:avLst/>
          </a:prstGeom>
        </p:spPr>
      </p:pic>
      <p:pic>
        <p:nvPicPr>
          <p:cNvPr id="5" name="Picture 4" descr="A white background with text&#10;&#10;AI-generated content may be incorrect." hidden="1">
            <a:extLst>
              <a:ext uri="{FF2B5EF4-FFF2-40B4-BE49-F238E27FC236}">
                <a16:creationId xmlns:a16="http://schemas.microsoft.com/office/drawing/2014/main" id="{BDE320B2-9177-C86B-EF27-A95E3F6140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71" y="5827059"/>
            <a:ext cx="6858001" cy="3455803"/>
          </a:xfrm>
          <a:prstGeom prst="rect">
            <a:avLst/>
          </a:prstGeom>
        </p:spPr>
      </p:pic>
      <p:pic>
        <p:nvPicPr>
          <p:cNvPr id="7" name="Picture 6" descr="A white background with text&#10;&#10;AI-generated content may be incorrect." hidden="1">
            <a:extLst>
              <a:ext uri="{FF2B5EF4-FFF2-40B4-BE49-F238E27FC236}">
                <a16:creationId xmlns:a16="http://schemas.microsoft.com/office/drawing/2014/main" id="{682CB7F2-CF91-292C-C131-02989C3CBA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4706" y="3322923"/>
            <a:ext cx="6858001" cy="3789567"/>
          </a:xfrm>
          <a:prstGeom prst="rect">
            <a:avLst/>
          </a:prstGeom>
        </p:spPr>
      </p:pic>
      <p:pic>
        <p:nvPicPr>
          <p:cNvPr id="9" name="Picture 8" descr="A white background with text&#10;&#10;AI-generated content may be incorrect." hidden="1">
            <a:extLst>
              <a:ext uri="{FF2B5EF4-FFF2-40B4-BE49-F238E27FC236}">
                <a16:creationId xmlns:a16="http://schemas.microsoft.com/office/drawing/2014/main" id="{629E826D-21DD-A1E5-C73D-91B21840749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7059" y="3448832"/>
            <a:ext cx="6858001" cy="3802456"/>
          </a:xfrm>
          <a:prstGeom prst="rect">
            <a:avLst/>
          </a:prstGeom>
        </p:spPr>
      </p:pic>
      <p:pic>
        <p:nvPicPr>
          <p:cNvPr id="11" name="Picture 10" descr="A white background with text&#10;&#10;AI-generated content may be incorrect." hidden="1">
            <a:extLst>
              <a:ext uri="{FF2B5EF4-FFF2-40B4-BE49-F238E27FC236}">
                <a16:creationId xmlns:a16="http://schemas.microsoft.com/office/drawing/2014/main" id="{FB675694-4D19-E549-A8A6-195BF44EB0A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9412" y="3590119"/>
            <a:ext cx="6858001" cy="3784586"/>
          </a:xfrm>
          <a:prstGeom prst="rect">
            <a:avLst/>
          </a:prstGeom>
        </p:spPr>
      </p:pic>
      <p:pic>
        <p:nvPicPr>
          <p:cNvPr id="13" name="Picture 12" descr="A white background with text&#10;&#10;AI-generated content may be incorrect." hidden="1">
            <a:extLst>
              <a:ext uri="{FF2B5EF4-FFF2-40B4-BE49-F238E27FC236}">
                <a16:creationId xmlns:a16="http://schemas.microsoft.com/office/drawing/2014/main" id="{3C7ED64B-374B-F4D3-A04C-C6B244D8F7D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61765" y="3718898"/>
            <a:ext cx="6858001" cy="3791734"/>
          </a:xfrm>
          <a:prstGeom prst="rect">
            <a:avLst/>
          </a:prstGeom>
        </p:spPr>
      </p:pic>
      <p:pic>
        <p:nvPicPr>
          <p:cNvPr id="15" name="Picture 14" descr="A white background with text&#10;&#10;AI-generated content may be incorrect." hidden="1">
            <a:extLst>
              <a:ext uri="{FF2B5EF4-FFF2-40B4-BE49-F238E27FC236}">
                <a16:creationId xmlns:a16="http://schemas.microsoft.com/office/drawing/2014/main" id="{E8942DB3-CB00-FD5E-8278-86862D756BB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5847" y="4177105"/>
            <a:ext cx="6234545" cy="3140027"/>
          </a:xfrm>
          <a:prstGeom prst="rect">
            <a:avLst/>
          </a:prstGeom>
        </p:spPr>
      </p:pic>
      <p:sp>
        <p:nvSpPr>
          <p:cNvPr id="16" name="TextBox 15">
            <a:extLst>
              <a:ext uri="{FF2B5EF4-FFF2-40B4-BE49-F238E27FC236}">
                <a16:creationId xmlns:a16="http://schemas.microsoft.com/office/drawing/2014/main" id="{98EF2AA3-F0A9-489A-48CD-AA79F799EF10}"/>
              </a:ext>
            </a:extLst>
          </p:cNvPr>
          <p:cNvSpPr txBox="1"/>
          <p:nvPr/>
        </p:nvSpPr>
        <p:spPr>
          <a:xfrm>
            <a:off x="2218765" y="780472"/>
            <a:ext cx="4370295" cy="418256"/>
          </a:xfrm>
          <a:prstGeom prst="rect">
            <a:avLst/>
          </a:prstGeom>
          <a:noFill/>
        </p:spPr>
        <p:txBody>
          <a:bodyPr wrap="square" rtlCol="0">
            <a:spAutoFit/>
          </a:bodyPr>
          <a:lstStyle/>
          <a:p>
            <a:r>
              <a:rPr lang="en-US" sz="2118" b="1" u="sng" dirty="0">
                <a:solidFill>
                  <a:schemeClr val="tx2">
                    <a:lumMod val="60000"/>
                    <a:lumOff val="40000"/>
                  </a:schemeClr>
                </a:solidFill>
              </a:rPr>
              <a:t>SOURCE CODE</a:t>
            </a:r>
            <a:endParaRPr lang="en-IN" sz="2118" b="1" u="sng" dirty="0">
              <a:solidFill>
                <a:schemeClr val="tx2">
                  <a:lumMod val="60000"/>
                  <a:lumOff val="40000"/>
                </a:schemeClr>
              </a:solidFill>
            </a:endParaRPr>
          </a:p>
        </p:txBody>
      </p:sp>
    </p:spTree>
    <p:extLst>
      <p:ext uri="{BB962C8B-B14F-4D97-AF65-F5344CB8AC3E}">
        <p14:creationId xmlns:p14="http://schemas.microsoft.com/office/powerpoint/2010/main" val="3304417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5B7D0DD-4A7A-435B-99F9-F9CCB24F8F3B}"/>
              </a:ext>
            </a:extLst>
          </p:cNvPr>
          <p:cNvGrpSpPr/>
          <p:nvPr/>
        </p:nvGrpSpPr>
        <p:grpSpPr>
          <a:xfrm>
            <a:off x="228600" y="609601"/>
            <a:ext cx="6553201" cy="8027894"/>
            <a:chOff x="-1" y="582706"/>
            <a:chExt cx="6858001" cy="8404412"/>
          </a:xfrm>
        </p:grpSpPr>
        <p:pic>
          <p:nvPicPr>
            <p:cNvPr id="3" name="Picture 2" descr="A white background with text">
              <a:extLst>
                <a:ext uri="{FF2B5EF4-FFF2-40B4-BE49-F238E27FC236}">
                  <a16:creationId xmlns:a16="http://schemas.microsoft.com/office/drawing/2014/main" id="{25D362E5-7A88-80D7-891F-DBF3821E81FE}"/>
                </a:ext>
              </a:extLst>
            </p:cNvPr>
            <p:cNvPicPr>
              <a:picLocks noChangeAspect="1"/>
            </p:cNvPicPr>
            <p:nvPr/>
          </p:nvPicPr>
          <p:blipFill>
            <a:blip r:embed="rId2">
              <a:extLst>
                <a:ext uri="{28A0092B-C50C-407E-A947-70E740481C1C}">
                  <a14:useLocalDpi xmlns:a14="http://schemas.microsoft.com/office/drawing/2010/main" val="0"/>
                </a:ext>
              </a:extLst>
            </a:blip>
            <a:srcRect l="1" r="36274"/>
            <a:stretch>
              <a:fillRect/>
            </a:stretch>
          </p:blipFill>
          <p:spPr>
            <a:xfrm>
              <a:off x="-1" y="582706"/>
              <a:ext cx="6858001" cy="5422954"/>
            </a:xfrm>
            <a:prstGeom prst="rect">
              <a:avLst/>
            </a:prstGeom>
          </p:spPr>
        </p:pic>
        <p:pic>
          <p:nvPicPr>
            <p:cNvPr id="6" name="Picture 5" descr="A white background with text&#10;&#10;AI-generated content may be incorrect.">
              <a:extLst>
                <a:ext uri="{FF2B5EF4-FFF2-40B4-BE49-F238E27FC236}">
                  <a16:creationId xmlns:a16="http://schemas.microsoft.com/office/drawing/2014/main" id="{05CE63DF-CB5E-B3C0-9B26-F0ACF6B909AA}"/>
                </a:ext>
              </a:extLst>
            </p:cNvPr>
            <p:cNvPicPr>
              <a:picLocks noChangeAspect="1"/>
            </p:cNvPicPr>
            <p:nvPr/>
          </p:nvPicPr>
          <p:blipFill>
            <a:blip r:embed="rId3">
              <a:extLst>
                <a:ext uri="{28A0092B-C50C-407E-A947-70E740481C1C}">
                  <a14:useLocalDpi xmlns:a14="http://schemas.microsoft.com/office/drawing/2010/main" val="0"/>
                </a:ext>
              </a:extLst>
            </a:blip>
            <a:srcRect r="46078" b="57434"/>
            <a:stretch>
              <a:fillRect/>
            </a:stretch>
          </p:blipFill>
          <p:spPr>
            <a:xfrm>
              <a:off x="-1" y="6005660"/>
              <a:ext cx="6835030" cy="2981458"/>
            </a:xfrm>
            <a:prstGeom prst="rect">
              <a:avLst/>
            </a:prstGeom>
          </p:spPr>
        </p:pic>
      </p:grpSp>
    </p:spTree>
    <p:extLst>
      <p:ext uri="{BB962C8B-B14F-4D97-AF65-F5344CB8AC3E}">
        <p14:creationId xmlns:p14="http://schemas.microsoft.com/office/powerpoint/2010/main" val="1487844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A1F2F8B-603D-04B1-5F4C-CA549849D1C7}"/>
              </a:ext>
            </a:extLst>
          </p:cNvPr>
          <p:cNvGrpSpPr/>
          <p:nvPr/>
        </p:nvGrpSpPr>
        <p:grpSpPr>
          <a:xfrm>
            <a:off x="152401" y="381000"/>
            <a:ext cx="6705600" cy="8610600"/>
            <a:chOff x="-1" y="515470"/>
            <a:chExt cx="6868040" cy="8673353"/>
          </a:xfrm>
        </p:grpSpPr>
        <p:pic>
          <p:nvPicPr>
            <p:cNvPr id="5" name="Picture 4" descr="A white background with text&#10;&#10;AI-generated content may be incorrect.">
              <a:extLst>
                <a:ext uri="{FF2B5EF4-FFF2-40B4-BE49-F238E27FC236}">
                  <a16:creationId xmlns:a16="http://schemas.microsoft.com/office/drawing/2014/main" id="{7CE03693-54A7-B925-4A38-5967BE8ADD73}"/>
                </a:ext>
              </a:extLst>
            </p:cNvPr>
            <p:cNvPicPr>
              <a:picLocks noChangeAspect="1"/>
            </p:cNvPicPr>
            <p:nvPr/>
          </p:nvPicPr>
          <p:blipFill>
            <a:blip r:embed="rId2">
              <a:extLst>
                <a:ext uri="{28A0092B-C50C-407E-A947-70E740481C1C}">
                  <a14:useLocalDpi xmlns:a14="http://schemas.microsoft.com/office/drawing/2010/main" val="0"/>
                </a:ext>
              </a:extLst>
            </a:blip>
            <a:srcRect t="42406" r="46078"/>
            <a:stretch>
              <a:fillRect/>
            </a:stretch>
          </p:blipFill>
          <p:spPr>
            <a:xfrm>
              <a:off x="-1" y="515470"/>
              <a:ext cx="6835030" cy="4034118"/>
            </a:xfrm>
            <a:prstGeom prst="rect">
              <a:avLst/>
            </a:prstGeom>
          </p:spPr>
        </p:pic>
        <p:pic>
          <p:nvPicPr>
            <p:cNvPr id="4" name="Picture 3" descr="A white background with text&#10;&#10;AI-generated content may be incorrect.">
              <a:extLst>
                <a:ext uri="{FF2B5EF4-FFF2-40B4-BE49-F238E27FC236}">
                  <a16:creationId xmlns:a16="http://schemas.microsoft.com/office/drawing/2014/main" id="{0DBA18DD-9958-B15D-345B-AC2FC3956814}"/>
                </a:ext>
              </a:extLst>
            </p:cNvPr>
            <p:cNvPicPr>
              <a:picLocks noChangeAspect="1"/>
            </p:cNvPicPr>
            <p:nvPr/>
          </p:nvPicPr>
          <p:blipFill>
            <a:blip r:embed="rId3">
              <a:extLst>
                <a:ext uri="{28A0092B-C50C-407E-A947-70E740481C1C}">
                  <a14:useLocalDpi xmlns:a14="http://schemas.microsoft.com/office/drawing/2010/main" val="0"/>
                </a:ext>
              </a:extLst>
            </a:blip>
            <a:srcRect r="48039" b="36698"/>
            <a:stretch>
              <a:fillRect/>
            </a:stretch>
          </p:blipFill>
          <p:spPr>
            <a:xfrm>
              <a:off x="0" y="4549588"/>
              <a:ext cx="6868039" cy="4639235"/>
            </a:xfrm>
            <a:prstGeom prst="rect">
              <a:avLst/>
            </a:prstGeom>
          </p:spPr>
        </p:pic>
      </p:grpSp>
    </p:spTree>
    <p:extLst>
      <p:ext uri="{BB962C8B-B14F-4D97-AF65-F5344CB8AC3E}">
        <p14:creationId xmlns:p14="http://schemas.microsoft.com/office/powerpoint/2010/main" val="4280347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5F67A1E-4F33-410F-BECE-6B2CA5A1F5CE}"/>
              </a:ext>
            </a:extLst>
          </p:cNvPr>
          <p:cNvGrpSpPr/>
          <p:nvPr/>
        </p:nvGrpSpPr>
        <p:grpSpPr>
          <a:xfrm>
            <a:off x="76200" y="533400"/>
            <a:ext cx="6743700" cy="8610600"/>
            <a:chOff x="0" y="582706"/>
            <a:chExt cx="6858000" cy="8606117"/>
          </a:xfrm>
        </p:grpSpPr>
        <p:pic>
          <p:nvPicPr>
            <p:cNvPr id="4" name="Picture 3" descr="A white background with text&#10;&#10;AI-generated content may be incorrect.">
              <a:extLst>
                <a:ext uri="{FF2B5EF4-FFF2-40B4-BE49-F238E27FC236}">
                  <a16:creationId xmlns:a16="http://schemas.microsoft.com/office/drawing/2014/main" id="{AFF1C31C-ECED-6CF5-42DD-751E9EE333A3}"/>
                </a:ext>
              </a:extLst>
            </p:cNvPr>
            <p:cNvPicPr>
              <a:picLocks noChangeAspect="1"/>
            </p:cNvPicPr>
            <p:nvPr/>
          </p:nvPicPr>
          <p:blipFill>
            <a:blip r:embed="rId2">
              <a:extLst>
                <a:ext uri="{28A0092B-C50C-407E-A947-70E740481C1C}">
                  <a14:useLocalDpi xmlns:a14="http://schemas.microsoft.com/office/drawing/2010/main" val="0"/>
                </a:ext>
              </a:extLst>
            </a:blip>
            <a:srcRect t="63655" r="50000"/>
            <a:stretch>
              <a:fillRect/>
            </a:stretch>
          </p:blipFill>
          <p:spPr>
            <a:xfrm>
              <a:off x="0" y="582706"/>
              <a:ext cx="6858000" cy="2763971"/>
            </a:xfrm>
            <a:prstGeom prst="rect">
              <a:avLst/>
            </a:prstGeom>
          </p:spPr>
        </p:pic>
        <p:pic>
          <p:nvPicPr>
            <p:cNvPr id="6" name="Picture 5" descr="A white background with text&#10;&#10;AI-generated content may be incorrect.">
              <a:extLst>
                <a:ext uri="{FF2B5EF4-FFF2-40B4-BE49-F238E27FC236}">
                  <a16:creationId xmlns:a16="http://schemas.microsoft.com/office/drawing/2014/main" id="{1864B546-A357-D3C7-C4FF-2CE1505AEBA4}"/>
                </a:ext>
              </a:extLst>
            </p:cNvPr>
            <p:cNvPicPr>
              <a:picLocks noChangeAspect="1"/>
            </p:cNvPicPr>
            <p:nvPr/>
          </p:nvPicPr>
          <p:blipFill>
            <a:blip r:embed="rId3">
              <a:extLst>
                <a:ext uri="{28A0092B-C50C-407E-A947-70E740481C1C}">
                  <a14:useLocalDpi xmlns:a14="http://schemas.microsoft.com/office/drawing/2010/main" val="0"/>
                </a:ext>
              </a:extLst>
            </a:blip>
            <a:srcRect r="50000" b="23095"/>
            <a:stretch>
              <a:fillRect/>
            </a:stretch>
          </p:blipFill>
          <p:spPr>
            <a:xfrm>
              <a:off x="0" y="3367768"/>
              <a:ext cx="6858000" cy="5821055"/>
            </a:xfrm>
            <a:prstGeom prst="rect">
              <a:avLst/>
            </a:prstGeom>
          </p:spPr>
        </p:pic>
      </p:grpSp>
    </p:spTree>
    <p:extLst>
      <p:ext uri="{BB962C8B-B14F-4D97-AF65-F5344CB8AC3E}">
        <p14:creationId xmlns:p14="http://schemas.microsoft.com/office/powerpoint/2010/main" val="2979907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FA6FD40-0898-8A22-D844-ED75EE4119CB}"/>
              </a:ext>
            </a:extLst>
          </p:cNvPr>
          <p:cNvGrpSpPr/>
          <p:nvPr/>
        </p:nvGrpSpPr>
        <p:grpSpPr>
          <a:xfrm>
            <a:off x="76202" y="381000"/>
            <a:ext cx="6781800" cy="8686800"/>
            <a:chOff x="0" y="582706"/>
            <a:chExt cx="6858000" cy="8807824"/>
          </a:xfrm>
        </p:grpSpPr>
        <p:pic>
          <p:nvPicPr>
            <p:cNvPr id="2" name="Picture 1" descr="A white background with text&#10;&#10;AI-generated content may be incorrect.">
              <a:extLst>
                <a:ext uri="{FF2B5EF4-FFF2-40B4-BE49-F238E27FC236}">
                  <a16:creationId xmlns:a16="http://schemas.microsoft.com/office/drawing/2014/main" id="{1CE835EC-4D02-4FDB-2D96-A2207497B6D6}"/>
                </a:ext>
              </a:extLst>
            </p:cNvPr>
            <p:cNvPicPr>
              <a:picLocks noChangeAspect="1"/>
            </p:cNvPicPr>
            <p:nvPr/>
          </p:nvPicPr>
          <p:blipFill>
            <a:blip r:embed="rId2">
              <a:extLst>
                <a:ext uri="{28A0092B-C50C-407E-A947-70E740481C1C}">
                  <a14:useLocalDpi xmlns:a14="http://schemas.microsoft.com/office/drawing/2010/main" val="0"/>
                </a:ext>
              </a:extLst>
            </a:blip>
            <a:srcRect t="76392" r="50000"/>
            <a:stretch>
              <a:fillRect/>
            </a:stretch>
          </p:blipFill>
          <p:spPr>
            <a:xfrm>
              <a:off x="0" y="582706"/>
              <a:ext cx="6858000" cy="1786938"/>
            </a:xfrm>
            <a:prstGeom prst="rect">
              <a:avLst/>
            </a:prstGeom>
          </p:spPr>
        </p:pic>
        <p:pic>
          <p:nvPicPr>
            <p:cNvPr id="6" name="Picture 5">
              <a:extLst>
                <a:ext uri="{FF2B5EF4-FFF2-40B4-BE49-F238E27FC236}">
                  <a16:creationId xmlns:a16="http://schemas.microsoft.com/office/drawing/2014/main" id="{34DF75B1-97DB-48CD-9DDF-4534AD28BD4A}"/>
                </a:ext>
              </a:extLst>
            </p:cNvPr>
            <p:cNvPicPr>
              <a:picLocks noChangeAspect="1"/>
            </p:cNvPicPr>
            <p:nvPr/>
          </p:nvPicPr>
          <p:blipFill>
            <a:blip r:embed="rId3"/>
            <a:stretch>
              <a:fillRect/>
            </a:stretch>
          </p:blipFill>
          <p:spPr>
            <a:xfrm>
              <a:off x="0" y="2381444"/>
              <a:ext cx="6858000" cy="7009086"/>
            </a:xfrm>
            <a:prstGeom prst="rect">
              <a:avLst/>
            </a:prstGeom>
          </p:spPr>
        </p:pic>
      </p:grpSp>
    </p:spTree>
    <p:extLst>
      <p:ext uri="{BB962C8B-B14F-4D97-AF65-F5344CB8AC3E}">
        <p14:creationId xmlns:p14="http://schemas.microsoft.com/office/powerpoint/2010/main" val="3838998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background with text&#10;&#10;AI-generated content may be incorrect.">
            <a:extLst>
              <a:ext uri="{FF2B5EF4-FFF2-40B4-BE49-F238E27FC236}">
                <a16:creationId xmlns:a16="http://schemas.microsoft.com/office/drawing/2014/main" id="{AAB4284A-EBE9-4D26-C5C8-0681DF725246}"/>
              </a:ext>
            </a:extLst>
          </p:cNvPr>
          <p:cNvPicPr>
            <a:picLocks noChangeAspect="1"/>
          </p:cNvPicPr>
          <p:nvPr/>
        </p:nvPicPr>
        <p:blipFill>
          <a:blip r:embed="rId2">
            <a:extLst>
              <a:ext uri="{28A0092B-C50C-407E-A947-70E740481C1C}">
                <a14:useLocalDpi xmlns:a14="http://schemas.microsoft.com/office/drawing/2010/main" val="0"/>
              </a:ext>
            </a:extLst>
          </a:blip>
          <a:srcRect r="57843"/>
          <a:stretch>
            <a:fillRect/>
          </a:stretch>
        </p:blipFill>
        <p:spPr>
          <a:xfrm>
            <a:off x="136749" y="457201"/>
            <a:ext cx="6584502" cy="7866529"/>
          </a:xfrm>
          <a:prstGeom prst="rect">
            <a:avLst/>
          </a:prstGeom>
        </p:spPr>
      </p:pic>
    </p:spTree>
    <p:extLst>
      <p:ext uri="{BB962C8B-B14F-4D97-AF65-F5344CB8AC3E}">
        <p14:creationId xmlns:p14="http://schemas.microsoft.com/office/powerpoint/2010/main" val="1726657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4A93E6-6760-8672-3027-AB027845C690}"/>
              </a:ext>
            </a:extLst>
          </p:cNvPr>
          <p:cNvSpPr txBox="1"/>
          <p:nvPr/>
        </p:nvSpPr>
        <p:spPr>
          <a:xfrm>
            <a:off x="1524000" y="533400"/>
            <a:ext cx="5513294" cy="581249"/>
          </a:xfrm>
          <a:prstGeom prst="rect">
            <a:avLst/>
          </a:prstGeom>
          <a:noFill/>
        </p:spPr>
        <p:txBody>
          <a:bodyPr wrap="square" rtlCol="0">
            <a:spAutoFit/>
          </a:bodyPr>
          <a:lstStyle/>
          <a:p>
            <a:r>
              <a:rPr lang="en-US" sz="3177" b="1" u="sng" dirty="0">
                <a:solidFill>
                  <a:schemeClr val="tx2">
                    <a:lumMod val="60000"/>
                    <a:lumOff val="40000"/>
                  </a:schemeClr>
                </a:solidFill>
              </a:rPr>
              <a:t>MYSQL TABLE</a:t>
            </a:r>
            <a:endParaRPr lang="en-IN" sz="3177" b="1" u="sng" dirty="0">
              <a:solidFill>
                <a:schemeClr val="tx2">
                  <a:lumMod val="60000"/>
                  <a:lumOff val="40000"/>
                </a:schemeClr>
              </a:solidFill>
            </a:endParaRPr>
          </a:p>
        </p:txBody>
      </p:sp>
      <p:pic>
        <p:nvPicPr>
          <p:cNvPr id="4" name="Picture 3" descr="A computer screen with white text&#10;&#10;AI-generated content may be incorrect.">
            <a:extLst>
              <a:ext uri="{FF2B5EF4-FFF2-40B4-BE49-F238E27FC236}">
                <a16:creationId xmlns:a16="http://schemas.microsoft.com/office/drawing/2014/main" id="{870DD6D2-B0EF-BDF3-77EF-C6F20F805789}"/>
              </a:ext>
            </a:extLst>
          </p:cNvPr>
          <p:cNvPicPr>
            <a:picLocks noChangeAspect="1"/>
          </p:cNvPicPr>
          <p:nvPr/>
        </p:nvPicPr>
        <p:blipFill>
          <a:blip r:embed="rId2"/>
          <a:stretch>
            <a:fillRect/>
          </a:stretch>
        </p:blipFill>
        <p:spPr>
          <a:xfrm>
            <a:off x="131877" y="7217664"/>
            <a:ext cx="6594246" cy="2133600"/>
          </a:xfrm>
          <a:prstGeom prst="rect">
            <a:avLst/>
          </a:prstGeom>
        </p:spPr>
      </p:pic>
      <p:graphicFrame>
        <p:nvGraphicFramePr>
          <p:cNvPr id="13" name="Table 12">
            <a:extLst>
              <a:ext uri="{FF2B5EF4-FFF2-40B4-BE49-F238E27FC236}">
                <a16:creationId xmlns:a16="http://schemas.microsoft.com/office/drawing/2014/main" id="{01217755-CCE2-6EDA-08C2-B433B282841B}"/>
              </a:ext>
            </a:extLst>
          </p:cNvPr>
          <p:cNvGraphicFramePr>
            <a:graphicFrameLocks noGrp="1"/>
          </p:cNvGraphicFramePr>
          <p:nvPr>
            <p:extLst>
              <p:ext uri="{D42A27DB-BD31-4B8C-83A1-F6EECF244321}">
                <p14:modId xmlns:p14="http://schemas.microsoft.com/office/powerpoint/2010/main" val="2579108501"/>
              </p:ext>
            </p:extLst>
          </p:nvPr>
        </p:nvGraphicFramePr>
        <p:xfrm>
          <a:off x="131877" y="1676400"/>
          <a:ext cx="6594246" cy="4774728"/>
        </p:xfrm>
        <a:graphic>
          <a:graphicData uri="http://schemas.openxmlformats.org/drawingml/2006/table">
            <a:tbl>
              <a:tblPr>
                <a:tableStyleId>{5C22544A-7EE6-4342-B048-85BDC9FD1C3A}</a:tableStyleId>
              </a:tblPr>
              <a:tblGrid>
                <a:gridCol w="631790">
                  <a:extLst>
                    <a:ext uri="{9D8B030D-6E8A-4147-A177-3AD203B41FA5}">
                      <a16:colId xmlns:a16="http://schemas.microsoft.com/office/drawing/2014/main" val="3031655913"/>
                    </a:ext>
                  </a:extLst>
                </a:gridCol>
                <a:gridCol w="760333">
                  <a:extLst>
                    <a:ext uri="{9D8B030D-6E8A-4147-A177-3AD203B41FA5}">
                      <a16:colId xmlns:a16="http://schemas.microsoft.com/office/drawing/2014/main" val="4129484095"/>
                    </a:ext>
                  </a:extLst>
                </a:gridCol>
                <a:gridCol w="1447800">
                  <a:extLst>
                    <a:ext uri="{9D8B030D-6E8A-4147-A177-3AD203B41FA5}">
                      <a16:colId xmlns:a16="http://schemas.microsoft.com/office/drawing/2014/main" val="2091493634"/>
                    </a:ext>
                  </a:extLst>
                </a:gridCol>
                <a:gridCol w="3754323">
                  <a:extLst>
                    <a:ext uri="{9D8B030D-6E8A-4147-A177-3AD203B41FA5}">
                      <a16:colId xmlns:a16="http://schemas.microsoft.com/office/drawing/2014/main" val="4145198415"/>
                    </a:ext>
                  </a:extLst>
                </a:gridCol>
              </a:tblGrid>
              <a:tr h="199303">
                <a:tc>
                  <a:txBody>
                    <a:bodyPr/>
                    <a:lstStyle/>
                    <a:p>
                      <a:pPr algn="ctr" fontAlgn="ctr">
                        <a:buNone/>
                      </a:pPr>
                      <a:r>
                        <a:rPr lang="en-IN" sz="1400" u="none" strike="noStrike">
                          <a:effectLst/>
                        </a:rPr>
                        <a:t>ID</a:t>
                      </a:r>
                      <a:endParaRPr lang="en-IN" sz="1400" b="1" i="0" u="none" strike="noStrike">
                        <a:solidFill>
                          <a:srgbClr val="000000"/>
                        </a:solidFill>
                        <a:effectLst/>
                        <a:latin typeface="Aptos Narrow" panose="020B0004020202020204" pitchFamily="34" charset="0"/>
                      </a:endParaRPr>
                    </a:p>
                  </a:txBody>
                  <a:tcPr marL="544" marR="544" marT="544" marB="0" anchor="ctr"/>
                </a:tc>
                <a:tc>
                  <a:txBody>
                    <a:bodyPr/>
                    <a:lstStyle/>
                    <a:p>
                      <a:pPr algn="ctr" fontAlgn="ctr">
                        <a:buNone/>
                      </a:pPr>
                      <a:r>
                        <a:rPr lang="en-IN" sz="1400" u="none" strike="noStrike">
                          <a:effectLst/>
                        </a:rPr>
                        <a:t>Service</a:t>
                      </a:r>
                      <a:endParaRPr lang="en-IN" sz="1400" b="1" i="0" u="none" strike="noStrike">
                        <a:solidFill>
                          <a:srgbClr val="000000"/>
                        </a:solidFill>
                        <a:effectLst/>
                        <a:latin typeface="Aptos Narrow" panose="020B0004020202020204" pitchFamily="34" charset="0"/>
                      </a:endParaRPr>
                    </a:p>
                  </a:txBody>
                  <a:tcPr marL="544" marR="544" marT="544" marB="0" anchor="ctr"/>
                </a:tc>
                <a:tc>
                  <a:txBody>
                    <a:bodyPr/>
                    <a:lstStyle/>
                    <a:p>
                      <a:pPr algn="ctr" fontAlgn="ctr">
                        <a:buNone/>
                      </a:pPr>
                      <a:r>
                        <a:rPr lang="en-IN" sz="1400" u="none" strike="noStrike">
                          <a:effectLst/>
                        </a:rPr>
                        <a:t>Username</a:t>
                      </a:r>
                      <a:endParaRPr lang="en-IN" sz="1400" b="1" i="0" u="none" strike="noStrike">
                        <a:solidFill>
                          <a:srgbClr val="000000"/>
                        </a:solidFill>
                        <a:effectLst/>
                        <a:latin typeface="Aptos Narrow" panose="020B0004020202020204" pitchFamily="34" charset="0"/>
                      </a:endParaRPr>
                    </a:p>
                  </a:txBody>
                  <a:tcPr marL="544" marR="544" marT="544" marB="0" anchor="ctr"/>
                </a:tc>
                <a:tc>
                  <a:txBody>
                    <a:bodyPr/>
                    <a:lstStyle/>
                    <a:p>
                      <a:pPr algn="ctr" fontAlgn="ctr">
                        <a:buNone/>
                      </a:pPr>
                      <a:r>
                        <a:rPr lang="en-IN" sz="1400" u="none" strike="noStrike">
                          <a:effectLst/>
                        </a:rPr>
                        <a:t>Encrypted Password</a:t>
                      </a:r>
                      <a:endParaRPr lang="en-IN" sz="1400" b="1"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3085541186"/>
                  </a:ext>
                </a:extLst>
              </a:tr>
              <a:tr h="250772">
                <a:tc>
                  <a:txBody>
                    <a:bodyPr/>
                    <a:lstStyle/>
                    <a:p>
                      <a:pPr algn="ctr" fontAlgn="ctr">
                        <a:buNone/>
                      </a:pPr>
                      <a:r>
                        <a:rPr lang="en-IN" sz="1400" u="none" strike="noStrike">
                          <a:effectLst/>
                        </a:rPr>
                        <a:t>1</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Amazon</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Rutherford</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TGNG66tyAppC1538W4B0J6NLEUNV0Y6eHTNY1jqyW1QXDMQ==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3167701986"/>
                  </a:ext>
                </a:extLst>
              </a:tr>
              <a:tr h="398099">
                <a:tc>
                  <a:txBody>
                    <a:bodyPr/>
                    <a:lstStyle/>
                    <a:p>
                      <a:pPr algn="ctr" fontAlgn="ctr">
                        <a:buNone/>
                      </a:pPr>
                      <a:r>
                        <a:rPr lang="en-IN" sz="1400" u="none" strike="noStrike">
                          <a:effectLst/>
                        </a:rPr>
                        <a:t>2</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Google</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Heisenberg</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3nRHHD_HE06ViYR16GRms_Zvr01I7YVp_hK2jucCr4dEY6-jjApiAQ==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1609387966"/>
                  </a:ext>
                </a:extLst>
              </a:tr>
              <a:tr h="250772">
                <a:tc>
                  <a:txBody>
                    <a:bodyPr/>
                    <a:lstStyle/>
                    <a:p>
                      <a:pPr algn="ctr" fontAlgn="ctr">
                        <a:buNone/>
                      </a:pPr>
                      <a:r>
                        <a:rPr lang="en-IN" sz="1400" u="none" strike="noStrike">
                          <a:effectLst/>
                        </a:rPr>
                        <a:t>3</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Microsoft</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Arthur Morgan</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TGNG66tyAppC1538W4B0J6NLEUNV0Y6eHTNY1jqyW1QXDMQ==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616051938"/>
                  </a:ext>
                </a:extLst>
              </a:tr>
              <a:tr h="398099">
                <a:tc>
                  <a:txBody>
                    <a:bodyPr/>
                    <a:lstStyle/>
                    <a:p>
                      <a:pPr algn="ctr" fontAlgn="ctr">
                        <a:buNone/>
                      </a:pPr>
                      <a:r>
                        <a:rPr lang="en-IN" sz="1400" u="none" strike="noStrike">
                          <a:effectLst/>
                        </a:rPr>
                        <a:t>4</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Apple</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John Marston</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3nRHHD_HE06ViYR16GRms_Zvr01I7YVp_hK2jucCr4dEY6-jjApiAQ==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392620925"/>
                  </a:ext>
                </a:extLst>
              </a:tr>
              <a:tr h="250772">
                <a:tc>
                  <a:txBody>
                    <a:bodyPr/>
                    <a:lstStyle/>
                    <a:p>
                      <a:pPr algn="ctr" fontAlgn="ctr">
                        <a:buNone/>
                      </a:pPr>
                      <a:r>
                        <a:rPr lang="en-IN" sz="1400" u="none" strike="noStrike">
                          <a:effectLst/>
                        </a:rPr>
                        <a:t>5</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Android</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Connor</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TGNG66tyAppC1538W4B0J6NLEUNV0Y6eHTNY1jqyW1QXDMQ==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4124268189"/>
                  </a:ext>
                </a:extLst>
              </a:tr>
              <a:tr h="398099">
                <a:tc>
                  <a:txBody>
                    <a:bodyPr/>
                    <a:lstStyle/>
                    <a:p>
                      <a:pPr algn="ctr" fontAlgn="ctr">
                        <a:buNone/>
                      </a:pPr>
                      <a:r>
                        <a:rPr lang="en-IN" sz="1400" u="none" strike="noStrike">
                          <a:effectLst/>
                        </a:rPr>
                        <a:t>6</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Intel</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Markus</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3nRHHD_HE06ViYR16GRms_Zvr01I7YVp_hK2jucCr4dEY6-jjApiAQ==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2179672738"/>
                  </a:ext>
                </a:extLst>
              </a:tr>
              <a:tr h="250772">
                <a:tc>
                  <a:txBody>
                    <a:bodyPr/>
                    <a:lstStyle/>
                    <a:p>
                      <a:pPr algn="ctr" fontAlgn="ctr">
                        <a:buNone/>
                      </a:pPr>
                      <a:r>
                        <a:rPr lang="en-IN" sz="1400" u="none" strike="noStrike">
                          <a:effectLst/>
                        </a:rPr>
                        <a:t>7</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AMD</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antesports</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TGNG66tyAppC1538W4B0J6NLEUNV0Y6eDmQ==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2210206906"/>
                  </a:ext>
                </a:extLst>
              </a:tr>
              <a:tr h="398099">
                <a:tc>
                  <a:txBody>
                    <a:bodyPr/>
                    <a:lstStyle/>
                    <a:p>
                      <a:pPr algn="ctr" fontAlgn="ctr">
                        <a:buNone/>
                      </a:pPr>
                      <a:r>
                        <a:rPr lang="en-IN" sz="1400" u="none" strike="noStrike">
                          <a:effectLst/>
                        </a:rPr>
                        <a:t>8</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Nvidia</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Trevor Philips</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3nRHHD_HE06ViYR16GRms_Zvr01I7YVp_hK2jucCr4dEY6-jjApiAQ==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911086118"/>
                  </a:ext>
                </a:extLst>
              </a:tr>
              <a:tr h="250772">
                <a:tc>
                  <a:txBody>
                    <a:bodyPr/>
                    <a:lstStyle/>
                    <a:p>
                      <a:pPr algn="ctr" fontAlgn="ctr">
                        <a:buNone/>
                      </a:pPr>
                      <a:r>
                        <a:rPr lang="en-IN" sz="1400" u="none" strike="noStrike">
                          <a:effectLst/>
                        </a:rPr>
                        <a:t>9</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Rockstar</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Franklin Clinton</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TGNG66tyAppC1538W4B0J6NLE0Y6eDmQ==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61441375"/>
                  </a:ext>
                </a:extLst>
              </a:tr>
              <a:tr h="398099">
                <a:tc>
                  <a:txBody>
                    <a:bodyPr/>
                    <a:lstStyle/>
                    <a:p>
                      <a:pPr algn="ctr" fontAlgn="ctr">
                        <a:buNone/>
                      </a:pPr>
                      <a:r>
                        <a:rPr lang="en-IN" sz="1400" u="none" strike="noStrike">
                          <a:effectLst/>
                        </a:rPr>
                        <a:t>10</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SRS</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BACKSPACE</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3nRHHD_HE06ViYR16GRms_Zvr01I7YVp_hK2jucCr4dEY6-jjApiAQ==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3455486619"/>
                  </a:ext>
                </a:extLst>
              </a:tr>
              <a:tr h="319441">
                <a:tc>
                  <a:txBody>
                    <a:bodyPr/>
                    <a:lstStyle/>
                    <a:p>
                      <a:pPr algn="ctr" fontAlgn="ctr">
                        <a:buNone/>
                      </a:pPr>
                      <a:r>
                        <a:rPr lang="en-IN" sz="1400" u="none" strike="noStrike">
                          <a:effectLst/>
                        </a:rPr>
                        <a:t>11</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Samsung</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xlacks</a:t>
                      </a:r>
                      <a:endParaRPr lang="en-IN" sz="1400" b="0" i="0" u="none" strike="noStrike">
                        <a:solidFill>
                          <a:srgbClr val="000000"/>
                        </a:solidFill>
                        <a:effectLst/>
                        <a:latin typeface="Aptos Narrow" panose="020B0004020202020204" pitchFamily="34" charset="0"/>
                      </a:endParaRPr>
                    </a:p>
                  </a:txBody>
                  <a:tcPr marL="544" marR="544" marT="544" marB="0" anchor="ctr"/>
                </a:tc>
                <a:tc>
                  <a:txBody>
                    <a:bodyPr/>
                    <a:lstStyle/>
                    <a:p>
                      <a:pPr algn="l" fontAlgn="ctr">
                        <a:buNone/>
                      </a:pPr>
                      <a:r>
                        <a:rPr lang="en-IN" sz="1400" u="none" strike="noStrike">
                          <a:effectLst/>
                        </a:rPr>
                        <a:t>TGNG66tyAppC1538W4B0J6NLEUNV0Y6eHTNY1jqyW1QXDMQ==</a:t>
                      </a:r>
                      <a:endParaRPr lang="en-IN" sz="1400" b="0" i="0" u="none" strike="noStrike">
                        <a:solidFill>
                          <a:srgbClr val="000000"/>
                        </a:solidFill>
                        <a:effectLst/>
                        <a:latin typeface="Aptos Narrow" panose="020B0004020202020204" pitchFamily="34" charset="0"/>
                      </a:endParaRPr>
                    </a:p>
                  </a:txBody>
                  <a:tcPr marL="544" marR="544" marT="544" marB="0" anchor="ctr"/>
                </a:tc>
                <a:extLst>
                  <a:ext uri="{0D108BD9-81ED-4DB2-BD59-A6C34878D82A}">
                    <a16:rowId xmlns:a16="http://schemas.microsoft.com/office/drawing/2014/main" val="532075333"/>
                  </a:ext>
                </a:extLst>
              </a:tr>
              <a:tr h="199303">
                <a:tc>
                  <a:txBody>
                    <a:bodyPr/>
                    <a:lstStyle/>
                    <a:p>
                      <a:pPr algn="l" fontAlgn="b">
                        <a:buNone/>
                      </a:pPr>
                      <a:endParaRPr lang="en-IN" sz="1400" b="0" i="0" u="none" strike="noStrike" dirty="0">
                        <a:solidFill>
                          <a:srgbClr val="000000"/>
                        </a:solidFill>
                        <a:effectLst/>
                        <a:latin typeface="Aptos Narrow" panose="020B0004020202020204" pitchFamily="34" charset="0"/>
                      </a:endParaRPr>
                    </a:p>
                  </a:txBody>
                  <a:tcPr marL="544" marR="544" marT="544" marB="0" anchor="b"/>
                </a:tc>
                <a:tc>
                  <a:txBody>
                    <a:bodyPr/>
                    <a:lstStyle/>
                    <a:p>
                      <a:pPr algn="l" fontAlgn="b">
                        <a:buNone/>
                      </a:pPr>
                      <a:endParaRPr lang="en-IN" sz="1400" b="0" i="0" u="none" strike="noStrike" dirty="0">
                        <a:solidFill>
                          <a:srgbClr val="000000"/>
                        </a:solidFill>
                        <a:effectLst/>
                        <a:latin typeface="Aptos Narrow" panose="020B0004020202020204" pitchFamily="34" charset="0"/>
                      </a:endParaRPr>
                    </a:p>
                  </a:txBody>
                  <a:tcPr marL="544" marR="544" marT="544" marB="0" anchor="b"/>
                </a:tc>
                <a:tc>
                  <a:txBody>
                    <a:bodyPr/>
                    <a:lstStyle/>
                    <a:p>
                      <a:pPr algn="l" fontAlgn="b">
                        <a:buNone/>
                      </a:pPr>
                      <a:endParaRPr lang="en-IN" sz="1400" b="0" i="0" u="none" strike="noStrike" dirty="0">
                        <a:solidFill>
                          <a:srgbClr val="000000"/>
                        </a:solidFill>
                        <a:effectLst/>
                        <a:latin typeface="Aptos Narrow" panose="020B0004020202020204" pitchFamily="34" charset="0"/>
                      </a:endParaRPr>
                    </a:p>
                  </a:txBody>
                  <a:tcPr marL="544" marR="544" marT="544" marB="0" anchor="b"/>
                </a:tc>
                <a:tc>
                  <a:txBody>
                    <a:bodyPr/>
                    <a:lstStyle/>
                    <a:p>
                      <a:pPr algn="l" fontAlgn="b">
                        <a:buNone/>
                      </a:pPr>
                      <a:endParaRPr lang="en-IN" sz="1400" b="0" i="0" u="none" strike="noStrike" dirty="0">
                        <a:solidFill>
                          <a:srgbClr val="000000"/>
                        </a:solidFill>
                        <a:effectLst/>
                        <a:latin typeface="Aptos Narrow" panose="020B0004020202020204" pitchFamily="34" charset="0"/>
                      </a:endParaRPr>
                    </a:p>
                  </a:txBody>
                  <a:tcPr marL="544" marR="544" marT="544" marB="0" anchor="b"/>
                </a:tc>
                <a:extLst>
                  <a:ext uri="{0D108BD9-81ED-4DB2-BD59-A6C34878D82A}">
                    <a16:rowId xmlns:a16="http://schemas.microsoft.com/office/drawing/2014/main" val="2268734167"/>
                  </a:ext>
                </a:extLst>
              </a:tr>
            </a:tbl>
          </a:graphicData>
        </a:graphic>
      </p:graphicFrame>
    </p:spTree>
    <p:extLst>
      <p:ext uri="{BB962C8B-B14F-4D97-AF65-F5344CB8AC3E}">
        <p14:creationId xmlns:p14="http://schemas.microsoft.com/office/powerpoint/2010/main" val="2920183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272</TotalTime>
  <Words>1195</Words>
  <Application>Microsoft Office PowerPoint</Application>
  <PresentationFormat>A4 Paper (210x297 mm)</PresentationFormat>
  <Paragraphs>118</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 Narrow</vt:lpstr>
      <vt:lpstr>Arial</vt:lpstr>
      <vt:lpstr>Calibri</vt:lpstr>
      <vt:lpstr>Georgia</vt:lpstr>
      <vt:lpstr>Times New Roman</vt:lpstr>
      <vt:lpstr>Verdana</vt:lpstr>
      <vt:lpstr>Office Theme</vt:lpstr>
      <vt:lpstr>PowerPoint Presentation</vt:lpstr>
      <vt:lpstr>PowerPoint Presentation</vt:lpstr>
      <vt:lpstr>PowerPoint Presentation</vt:lpstr>
      <vt:lpstr>AIM OF THE PROJECT</vt:lpstr>
      <vt:lpstr>WORKING OF THE PROJECT</vt:lpstr>
      <vt:lpstr>OUTCOMES</vt:lpstr>
      <vt:lpstr>ADVANTAGES</vt:lpstr>
      <vt:lpstr>FLOWCHART OF THE CODE</vt:lpstr>
      <vt:lpstr>REFERENCE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KV BERHAMPUR</dc:creator>
  <cp:lastModifiedBy>Prasham S</cp:lastModifiedBy>
  <cp:revision>6</cp:revision>
  <dcterms:created xsi:type="dcterms:W3CDTF">2025-12-06T10:36:34Z</dcterms:created>
  <dcterms:modified xsi:type="dcterms:W3CDTF">2025-12-06T17:51:29Z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2025-01-01T00:00:00Z</vt:filetime>
  </property>
  <property fmtid="{D5CDD505-2E9C-101B-9397-08002B2CF9AE}" pid="3" name="Creator">
    <vt:lpwstr>Microsoft Word</vt:lpwstr>
  </property>
  <property fmtid="{D5CDD505-2E9C-101B-9397-08002B2CF9AE}" pid="4" name="LastSaved">
    <vt:filetime>2025-12-06T00:00:00Z</vt:filetime>
  </property>
</Properties>
</file>